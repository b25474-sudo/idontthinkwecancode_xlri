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AUROC</c:v>
                </c:pt>
              </c:strCache>
            </c:strRef>
          </c:tx>
          <c:spPr>
            <a:solidFill>
              <a:srgbClr val="B7C4C1"/>
            </a:solidFill>
            <a:effectLst/>
          </c:spPr>
          <c:invertIfNegative val="0"/>
          <c:dLbls>
            <c:numFmt formatCode="0.000" sourceLinked="0"/>
            <c:txPr>
              <a:bodyPr/>
              <a:lstStyle/>
              <a:p>
                <a:pPr>
                  <a:defRPr b="0" i="0" strike="noStrike" sz="1300" u="none">
                    <a:solidFill>
                      <a:srgbClr val="1F2A30"/>
                    </a:solidFill>
                    <a:latin typeface="Arial"/>
                  </a:defRPr>
                </a:pPr>
              </a:p>
            </c:txPr>
            <c:showLegendKey val="0"/>
            <c:showVal val="1"/>
            <c:showCatName val="0"/>
            <c:showSerName val="0"/>
            <c:showPercent val="0"/>
            <c:showBubbleSize val="0"/>
            <c:showLeaderLines val="0"/>
          </c:dLbls>
          <c:dPt>
            <c:idx val="0"/>
            <c:invertIfNegative val="0"/>
            <c:bubble3D val="0"/>
            <c:spPr>
              <a:solidFill>
                <a:srgbClr val="B7C4C1"/>
              </a:solidFill>
              <a:effectLst/>
            </c:spPr>
          </c:dPt>
          <c:dPt>
            <c:idx val="1"/>
            <c:invertIfNegative val="0"/>
            <c:bubble3D val="0"/>
            <c:spPr>
              <a:solidFill>
                <a:srgbClr val="8FB0AB"/>
              </a:solidFill>
              <a:effectLst/>
            </c:spPr>
          </c:dPt>
          <c:dPt>
            <c:idx val="2"/>
            <c:invertIfNegative val="0"/>
            <c:bubble3D val="0"/>
            <c:spPr>
              <a:solidFill>
                <a:srgbClr val="4E8E87"/>
              </a:solidFill>
              <a:effectLst/>
            </c:spPr>
          </c:dPt>
          <c:dPt>
            <c:idx val="3"/>
            <c:invertIfNegative val="0"/>
            <c:bubble3D val="0"/>
            <c:spPr>
              <a:solidFill>
                <a:srgbClr val="0E6E6B"/>
              </a:solidFill>
              <a:effectLst/>
            </c:spPr>
          </c:dPt>
          <c:cat>
            <c:multiLvlStrRef>
              <c:f>Sheet1!$A$2:$A$5</c:f>
              <c:multiLvlStrCache>
                <c:ptCount val="4"/>
                <c:lvl>
                  <c:pt idx="0">
                    <c:v>Simple rule (no AI)</c:v>
                  </c:pt>
                  <c:pt idx="1">
                    <c:v>Health record only</c:v>
                  </c:pt>
                  <c:pt idx="2">
                    <c:v>Wearables only</c:v>
                  </c:pt>
                  <c:pt idx="3">
                    <c:v>GlucoTwin (fused)</c:v>
                  </c:pt>
                </c:lvl>
              </c:multiLvlStrCache>
            </c:multiLvlStrRef>
          </c:cat>
          <c:val>
            <c:numRef>
              <c:f>Sheet1!$B$2:$B$5</c:f>
              <c:numCache>
                <c:formatCode>General</c:formatCode>
                <c:ptCount val="4"/>
                <c:pt idx="0">
                  <c:v>0.573</c:v>
                </c:pt>
                <c:pt idx="1">
                  <c:v>0.632</c:v>
                </c:pt>
                <c:pt idx="2">
                  <c:v>0.928</c:v>
                </c:pt>
                <c:pt idx="3">
                  <c:v>0.943</c:v>
                </c:pt>
              </c:numCache>
            </c:numRef>
          </c:val>
        </c:ser>
        <c:dLbls>
          <c:numFmt formatCode="0.000" sourceLinked="0"/>
          <c:txPr>
            <a:bodyPr/>
            <a:lstStyle/>
            <a:p>
              <a:pPr>
                <a:defRPr b="0" i="0" strike="noStrike" sz="1300" u="none">
                  <a:solidFill>
                    <a:srgbClr val="1F2A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A30"/>
                </a:solidFill>
                <a:latin typeface="Arial"/>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6350" cap="flat">
              <a:solidFill>
                <a:srgbClr val="E3E8E7"/>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E7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Sarah and Yashas from XLRI. Our team name is honest: neither of us had written code before this challenge. In the next few minutes we'll show you GlucoTwin, a digital twin for people with Type 2 Diabetes that predicts blood-sugar spikes two hours before they happen, explains why, and lets a doctor test what would prevent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around 101 million adults with diabetes. After a heavy meal, glucose often shoots above 180, and repeated spikes damage the body over years. The problem is timing: patients only find out after the spike, from a finger-prick or a lab test. We asked: what if the warning came two hours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GlucoTwin keeps a virtual copy of each patient. It does three things. Predict: every 15 minutes it estimates the chance of a spike in the next two hours. Explain: it tells the doctor why, in plain language. Simulate: the doctor can test changes, like a walk or a smaller meal, and see the effect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asks us to fuse two streams. The health record is the static side: who the patient is, their labs, medicines and even a genetic marker, TCF7L2, the strongest known genetic risk factor for Type 2 Diabetes. The wearable side is dynamic: glucose every five minutes, heart rate, steps, sleep stages and logged meals. All of it is synthetic, as the rules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generate random numbers. Each patient has a hidden physiology, an Indian daily routine and realistic mess: forgotten meal logs, misjudged portions, sensor gaps. Then we checked the data against clinical benchmarks. This chart shows the hospital record and the wearable data agree: higher HbA1c means less time in the healthy range, just as international guidelines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On the left, the two data streams. They are cleaned and turned into 53 features, using only past data. Then two engines. Engine one is machine learning for early warning. Engine two is a small physiology model personalised to each patient, for what-if questions. Both feed the doctor dashboard on the right. Everything is reproducible and deployed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early-warning engine uses 53 clues in three groups: wearable clues, the health record, and twin memory, which is what this specific patient's body usually does after a meal. We tested it honestly: on 30 patients it never saw during training, using only data available at that moment, and only warning while glucose is still below 180, because warning about a spike that has already started is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result. A simple clinical rule scores 0.57, barely better than a coin toss. The health record alone scores 0.63. Wearables alone 0.93. Fusing both with the twin's memory scores highest, 0.94. In doctor terms: 97% of spikes flagged in advance, a median of about 95 minutes of warning, and fewer than one false alarm per patient per day, which matters because too many alarms make people ignore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unseen patient's day. The purple area is the twin's risk score. Before breakfast, lunch, the evening snack and dinner, the risk climbs above 60% and the twin raises an alert, shown as red triangles, well before the glucose line crosses 180. Gaps in the risk chart are when glucose is already high and no warning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a personal twin matters. Three patients, the same 100-gram meal, very different curves. Surprisingly, P004 has a better HbA1c than P073 but spikes higher. You can't see this from a lab report. The twin learns four facts about each body from its own recent data, so it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engine answers what-if questions. At 12:30, before lunch, the doctor can see that a 100-gram lunch would push this patient to about 250 and keep them above 180 for over two hours. Halving the carbs keeps the peak near 200. The simulator's forecasts are off by about 12 milligrams per decilitre one hour ahead, half the error of assuming nothing changes. We used a physiology model here because machine learning finds patterns, but can't be trusted with cause and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you've seen is in a live dashboard that anyone can open. The ward overview ranks patients by risk. The patient view shows the record, the risk, the reasons and the what-if simulator. A clinic clock replays two weeks as if live. Please scan the code and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design choices so a doctor could trust this. Results only on unseen patients. No future data. False alarms measured, not ignored. Every prediction explained. Every warning paired with an action. And privacy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limits. Our patients are synthetic and more regular than real people, so real-world accuracy will be lower. What-if forecasts support conversations, not prescriptions. Our next steps: validate on public glucose datasets, stress-test with messy routines, pilot with a clinic, and connect to affordable sensors and India's ABDM health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Both links are on screen,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4644"/>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109728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GlucoTwin</a:t>
            </a:r>
            <a:endParaRPr lang="en-US" sz="6000" dirty="0"/>
          </a:p>
        </p:txBody>
      </p:sp>
      <p:sp>
        <p:nvSpPr>
          <p:cNvPr id="3" name="Text 1"/>
          <p:cNvSpPr txBox="1"/>
          <p:nvPr/>
        </p:nvSpPr>
        <p:spPr>
          <a:xfrm>
            <a:off x="731520" y="2697480"/>
            <a:ext cx="8686800" cy="1005840"/>
          </a:xfrm>
          <a:prstGeom prst="rect">
            <a:avLst/>
          </a:prstGeom>
          <a:noFill/>
          <a:ln/>
        </p:spPr>
        <p:txBody>
          <a:bodyPr wrap="square" lIns="0" tIns="0" rIns="0" bIns="0" rtlCol="0" anchor="t"/>
          <a:lstStyle/>
          <a:p>
            <a:pPr indent="0" marL="0">
              <a:buNone/>
            </a:pPr>
            <a:r>
              <a:rPr lang="en-US" sz="2200" dirty="0">
                <a:solidFill>
                  <a:srgbClr val="D7EBE8"/>
                </a:solidFill>
                <a:latin typeface="Calibri" pitchFamily="34" charset="0"/>
                <a:ea typeface="Calibri" pitchFamily="34" charset="-122"/>
                <a:cs typeface="Calibri" pitchFamily="34" charset="-120"/>
              </a:rPr>
              <a:t>A digital twin that warns people with Type 2 Diabetes of a blood-sugar spike two hours before it happens</a:t>
            </a:r>
            <a:endParaRPr lang="en-US" sz="2200" dirty="0"/>
          </a:p>
        </p:txBody>
      </p:sp>
      <p:sp>
        <p:nvSpPr>
          <p:cNvPr id="4" name="Text 2"/>
          <p:cNvSpPr txBox="1"/>
          <p:nvPr/>
        </p:nvSpPr>
        <p:spPr>
          <a:xfrm>
            <a:off x="731520" y="4343400"/>
            <a:ext cx="822960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Sarah Dhamija and Yashas Tarakaram</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Team I Dont Think We Can Code  |  XLRI, PGD-BM 2025–27</a:t>
            </a:r>
            <a:endParaRPr lang="en-US" sz="1600" dirty="0"/>
          </a:p>
        </p:txBody>
      </p:sp>
      <p:sp>
        <p:nvSpPr>
          <p:cNvPr id="5" name="Text 3"/>
          <p:cNvSpPr txBox="1"/>
          <p:nvPr/>
        </p:nvSpPr>
        <p:spPr>
          <a:xfrm>
            <a:off x="731520" y="5989320"/>
            <a:ext cx="10058400" cy="365760"/>
          </a:xfrm>
          <a:prstGeom prst="rect">
            <a:avLst/>
          </a:prstGeom>
          <a:noFill/>
          <a:ln/>
        </p:spPr>
        <p:txBody>
          <a:bodyPr wrap="square" lIns="0" tIns="0" rIns="0" bIns="0" rtlCol="0" anchor="t"/>
          <a:lstStyle/>
          <a:p>
            <a:pPr indent="0" marL="0">
              <a:buNone/>
            </a:pPr>
            <a:r>
              <a:rPr lang="en-US" sz="1200" dirty="0">
                <a:solidFill>
                  <a:srgbClr val="A9CFCA"/>
                </a:solidFill>
                <a:latin typeface="Calibri" pitchFamily="34" charset="0"/>
                <a:ea typeface="Calibri" pitchFamily="34" charset="-122"/>
                <a:cs typeface="Calibri" pitchFamily="34" charset="-120"/>
              </a:rPr>
              <a:t>Happiest Health Reimagining and Reforming Healthcare in India Summit 2026, Bengaluru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Spikes are discovered after the damage is done</a:t>
            </a:r>
            <a:endParaRPr lang="en-US" sz="3200" dirty="0"/>
          </a:p>
        </p:txBody>
      </p:sp>
      <p:sp>
        <p:nvSpPr>
          <p:cNvPr id="3" name="Text 1"/>
          <p:cNvSpPr txBox="1"/>
          <p:nvPr/>
        </p:nvSpPr>
        <p:spPr>
          <a:xfrm>
            <a:off x="548640" y="1645920"/>
            <a:ext cx="4754880" cy="1097280"/>
          </a:xfrm>
          <a:prstGeom prst="rect">
            <a:avLst/>
          </a:prstGeom>
          <a:noFill/>
          <a:ln/>
        </p:spPr>
        <p:txBody>
          <a:bodyPr wrap="square" lIns="0" tIns="0" rIns="0" bIns="0" rtlCol="0" anchor="t"/>
          <a:lstStyle/>
          <a:p>
            <a:pPr indent="0" marL="0">
              <a:buNone/>
            </a:pPr>
            <a:r>
              <a:rPr lang="en-US" sz="6000" b="1" dirty="0">
                <a:solidFill>
                  <a:srgbClr val="0E6E6B"/>
                </a:solidFill>
                <a:latin typeface="Cambria" pitchFamily="34" charset="0"/>
                <a:ea typeface="Cambria" pitchFamily="34" charset="-122"/>
                <a:cs typeface="Cambria" pitchFamily="34" charset="-120"/>
              </a:rPr>
              <a:t>101 million</a:t>
            </a:r>
            <a:endParaRPr lang="en-US" sz="6000" dirty="0"/>
          </a:p>
        </p:txBody>
      </p:sp>
      <p:sp>
        <p:nvSpPr>
          <p:cNvPr id="4" name="Text 2"/>
          <p:cNvSpPr txBox="1"/>
          <p:nvPr/>
        </p:nvSpPr>
        <p:spPr>
          <a:xfrm>
            <a:off x="548640" y="2788920"/>
            <a:ext cx="4480560" cy="91440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Indians live with diabetes, and 136 million more have prediabetes (ICMR-INDIAB study, 2023)</a:t>
            </a:r>
            <a:endParaRPr lang="en-US" sz="1600" dirty="0"/>
          </a:p>
        </p:txBody>
      </p:sp>
      <p:sp>
        <p:nvSpPr>
          <p:cNvPr id="5" name="Shape 3"/>
          <p:cNvSpPr/>
          <p:nvPr/>
        </p:nvSpPr>
        <p:spPr>
          <a:xfrm>
            <a:off x="5760720" y="1691640"/>
            <a:ext cx="685800" cy="685800"/>
          </a:xfrm>
          <a:prstGeom prst="ellipse">
            <a:avLst/>
          </a:prstGeom>
          <a:solidFill>
            <a:srgbClr val="0E6E6B"/>
          </a:solidFill>
          <a:ln w="12700">
            <a:solidFill>
              <a:srgbClr val="0E6E6B"/>
            </a:solidFill>
            <a:prstDash val="solid"/>
          </a:ln>
        </p:spPr>
      </p:sp>
      <p:pic>
        <p:nvPicPr>
          <p:cNvPr id="6" name="Image 0" descr="preencoded.png">    </p:cNvPr>
          <p:cNvPicPr>
            <a:picLocks noChangeAspect="1"/>
          </p:cNvPicPr>
          <p:nvPr/>
        </p:nvPicPr>
        <p:blipFill>
          <a:blip r:embed="rId1"/>
          <a:stretch>
            <a:fillRect/>
          </a:stretch>
        </p:blipFill>
        <p:spPr>
          <a:xfrm>
            <a:off x="5939028" y="1869948"/>
            <a:ext cx="329184" cy="329184"/>
          </a:xfrm>
          <a:prstGeom prst="rect">
            <a:avLst/>
          </a:prstGeom>
        </p:spPr>
      </p:pic>
      <p:sp>
        <p:nvSpPr>
          <p:cNvPr id="7" name="Text 4"/>
          <p:cNvSpPr txBox="1"/>
          <p:nvPr/>
        </p:nvSpPr>
        <p:spPr>
          <a:xfrm>
            <a:off x="6675120" y="1691640"/>
            <a:ext cx="4937760"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Spikes above 180 mg/dL after meals</a:t>
            </a:r>
            <a:endParaRPr lang="en-US" sz="1800" dirty="0"/>
          </a:p>
        </p:txBody>
      </p:sp>
      <p:sp>
        <p:nvSpPr>
          <p:cNvPr id="8" name="Text 5"/>
          <p:cNvSpPr txBox="1"/>
          <p:nvPr/>
        </p:nvSpPr>
        <p:spPr>
          <a:xfrm>
            <a:off x="6675120" y="2075688"/>
            <a:ext cx="4937760" cy="548640"/>
          </a:xfrm>
          <a:prstGeom prst="rect">
            <a:avLst/>
          </a:prstGeom>
          <a:noFill/>
          <a:ln/>
        </p:spPr>
        <p:txBody>
          <a:bodyPr wrap="square" lIns="0" tIns="0" rIns="0" bIns="0" rtlCol="0" anchor="t"/>
          <a:lstStyle/>
          <a:p>
            <a:pPr indent="0" marL="0">
              <a:buNone/>
            </a:pPr>
            <a:r>
              <a:rPr lang="en-US" sz="1400" dirty="0">
                <a:solidFill>
                  <a:srgbClr val="5F6E74"/>
                </a:solidFill>
                <a:latin typeface="Calibri" pitchFamily="34" charset="0"/>
                <a:ea typeface="Calibri" pitchFamily="34" charset="-122"/>
                <a:cs typeface="Calibri" pitchFamily="34" charset="-120"/>
              </a:rPr>
              <a:t>Over years they damage blood vessels, nerves, eyes and kidneys.</a:t>
            </a:r>
            <a:endParaRPr lang="en-US" sz="1400" dirty="0"/>
          </a:p>
        </p:txBody>
      </p:sp>
      <p:sp>
        <p:nvSpPr>
          <p:cNvPr id="9" name="Shape 6"/>
          <p:cNvSpPr/>
          <p:nvPr/>
        </p:nvSpPr>
        <p:spPr>
          <a:xfrm>
            <a:off x="5760720" y="2926080"/>
            <a:ext cx="685800" cy="685800"/>
          </a:xfrm>
          <a:prstGeom prst="ellipse">
            <a:avLst/>
          </a:prstGeom>
          <a:solidFill>
            <a:srgbClr val="0E6E6B"/>
          </a:solidFill>
          <a:ln w="12700">
            <a:solidFill>
              <a:srgbClr val="0E6E6B"/>
            </a:solidFill>
            <a:prstDash val="solid"/>
          </a:ln>
        </p:spPr>
      </p:sp>
      <p:pic>
        <p:nvPicPr>
          <p:cNvPr id="10" name="Image 1" descr="preencoded.png">    </p:cNvPr>
          <p:cNvPicPr>
            <a:picLocks noChangeAspect="1"/>
          </p:cNvPicPr>
          <p:nvPr/>
        </p:nvPicPr>
        <p:blipFill>
          <a:blip r:embed="rId2"/>
          <a:stretch>
            <a:fillRect/>
          </a:stretch>
        </p:blipFill>
        <p:spPr>
          <a:xfrm>
            <a:off x="5939028" y="3104388"/>
            <a:ext cx="329184" cy="329184"/>
          </a:xfrm>
          <a:prstGeom prst="rect">
            <a:avLst/>
          </a:prstGeom>
        </p:spPr>
      </p:pic>
      <p:sp>
        <p:nvSpPr>
          <p:cNvPr id="11" name="Text 7"/>
          <p:cNvSpPr txBox="1"/>
          <p:nvPr/>
        </p:nvSpPr>
        <p:spPr>
          <a:xfrm>
            <a:off x="6675120" y="2926080"/>
            <a:ext cx="4937760"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Common with carb-heavy Indian meals</a:t>
            </a:r>
            <a:endParaRPr lang="en-US" sz="1800" dirty="0"/>
          </a:p>
        </p:txBody>
      </p:sp>
      <p:sp>
        <p:nvSpPr>
          <p:cNvPr id="12" name="Text 8"/>
          <p:cNvSpPr txBox="1"/>
          <p:nvPr/>
        </p:nvSpPr>
        <p:spPr>
          <a:xfrm>
            <a:off x="6675120" y="3310128"/>
            <a:ext cx="4937760" cy="548640"/>
          </a:xfrm>
          <a:prstGeom prst="rect">
            <a:avLst/>
          </a:prstGeom>
          <a:noFill/>
          <a:ln/>
        </p:spPr>
        <p:txBody>
          <a:bodyPr wrap="square" lIns="0" tIns="0" rIns="0" bIns="0" rtlCol="0" anchor="t"/>
          <a:lstStyle/>
          <a:p>
            <a:pPr indent="0" marL="0">
              <a:buNone/>
            </a:pPr>
            <a:r>
              <a:rPr lang="en-US" sz="1400" dirty="0">
                <a:solidFill>
                  <a:srgbClr val="5F6E74"/>
                </a:solidFill>
                <a:latin typeface="Calibri" pitchFamily="34" charset="0"/>
                <a:ea typeface="Calibri" pitchFamily="34" charset="-122"/>
                <a:cs typeface="Calibri" pitchFamily="34" charset="-120"/>
              </a:rPr>
              <a:t>Rice-heavy lunches and late dinners push glucose up daily.</a:t>
            </a:r>
            <a:endParaRPr lang="en-US" sz="1400" dirty="0"/>
          </a:p>
        </p:txBody>
      </p:sp>
      <p:sp>
        <p:nvSpPr>
          <p:cNvPr id="13" name="Shape 9"/>
          <p:cNvSpPr/>
          <p:nvPr/>
        </p:nvSpPr>
        <p:spPr>
          <a:xfrm>
            <a:off x="5760720" y="4160520"/>
            <a:ext cx="685800" cy="685800"/>
          </a:xfrm>
          <a:prstGeom prst="ellipse">
            <a:avLst/>
          </a:prstGeom>
          <a:solidFill>
            <a:srgbClr val="0E6E6B"/>
          </a:solidFill>
          <a:ln w="12700">
            <a:solidFill>
              <a:srgbClr val="0E6E6B"/>
            </a:solidFill>
            <a:prstDash val="solid"/>
          </a:ln>
        </p:spPr>
      </p:sp>
      <p:pic>
        <p:nvPicPr>
          <p:cNvPr id="14" name="Image 2" descr="preencoded.png">    </p:cNvPr>
          <p:cNvPicPr>
            <a:picLocks noChangeAspect="1"/>
          </p:cNvPicPr>
          <p:nvPr/>
        </p:nvPicPr>
        <p:blipFill>
          <a:blip r:embed="rId3"/>
          <a:stretch>
            <a:fillRect/>
          </a:stretch>
        </p:blipFill>
        <p:spPr>
          <a:xfrm>
            <a:off x="5939028" y="4338828"/>
            <a:ext cx="329184" cy="329184"/>
          </a:xfrm>
          <a:prstGeom prst="rect">
            <a:avLst/>
          </a:prstGeom>
        </p:spPr>
      </p:pic>
      <p:sp>
        <p:nvSpPr>
          <p:cNvPr id="15" name="Text 10"/>
          <p:cNvSpPr txBox="1"/>
          <p:nvPr/>
        </p:nvSpPr>
        <p:spPr>
          <a:xfrm>
            <a:off x="6675120" y="4160520"/>
            <a:ext cx="4937760"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Found out too late</a:t>
            </a:r>
            <a:endParaRPr lang="en-US" sz="1800" dirty="0"/>
          </a:p>
        </p:txBody>
      </p:sp>
      <p:sp>
        <p:nvSpPr>
          <p:cNvPr id="16" name="Text 11"/>
          <p:cNvSpPr txBox="1"/>
          <p:nvPr/>
        </p:nvSpPr>
        <p:spPr>
          <a:xfrm>
            <a:off x="6675120" y="4544568"/>
            <a:ext cx="4937760" cy="548640"/>
          </a:xfrm>
          <a:prstGeom prst="rect">
            <a:avLst/>
          </a:prstGeom>
          <a:noFill/>
          <a:ln/>
        </p:spPr>
        <p:txBody>
          <a:bodyPr wrap="square" lIns="0" tIns="0" rIns="0" bIns="0" rtlCol="0" anchor="t"/>
          <a:lstStyle/>
          <a:p>
            <a:pPr indent="0" marL="0">
              <a:buNone/>
            </a:pPr>
            <a:r>
              <a:rPr lang="en-US" sz="1400" dirty="0">
                <a:solidFill>
                  <a:srgbClr val="5F6E74"/>
                </a:solidFill>
                <a:latin typeface="Calibri" pitchFamily="34" charset="0"/>
                <a:ea typeface="Calibri" pitchFamily="34" charset="-122"/>
                <a:cs typeface="Calibri" pitchFamily="34" charset="-120"/>
              </a:rPr>
              <a:t>A glucometer reading or a lab report weeks later, not a warning beforehand.</a:t>
            </a:r>
            <a:endParaRPr lang="en-US" sz="1400" dirty="0"/>
          </a:p>
        </p:txBody>
      </p:sp>
      <p:sp>
        <p:nvSpPr>
          <p:cNvPr id="17" name="Shape 12"/>
          <p:cNvSpPr/>
          <p:nvPr/>
        </p:nvSpPr>
        <p:spPr>
          <a:xfrm>
            <a:off x="548640" y="5440680"/>
            <a:ext cx="11064240" cy="731520"/>
          </a:xfrm>
          <a:prstGeom prst="roundRect">
            <a:avLst>
              <a:gd name="adj" fmla="val 12500"/>
            </a:avLst>
          </a:prstGeom>
          <a:solidFill>
            <a:srgbClr val="E3EEEC"/>
          </a:solidFill>
          <a:ln w="12700">
            <a:solidFill>
              <a:srgbClr val="E3EEEC"/>
            </a:solidFill>
            <a:prstDash val="solid"/>
          </a:ln>
        </p:spPr>
      </p:sp>
      <p:sp>
        <p:nvSpPr>
          <p:cNvPr id="18" name="Text 13"/>
          <p:cNvSpPr txBox="1"/>
          <p:nvPr/>
        </p:nvSpPr>
        <p:spPr>
          <a:xfrm>
            <a:off x="777240" y="5440680"/>
            <a:ext cx="10607040" cy="731520"/>
          </a:xfrm>
          <a:prstGeom prst="rect">
            <a:avLst/>
          </a:prstGeom>
          <a:noFill/>
          <a:ln/>
        </p:spPr>
        <p:txBody>
          <a:bodyPr wrap="square" lIns="0" tIns="0" rIns="0" bIns="0" rtlCol="0" anchor="ctr"/>
          <a:lstStyle/>
          <a:p>
            <a:pPr indent="0" marL="0">
              <a:buNone/>
            </a:pPr>
            <a:r>
              <a:rPr lang="en-US" sz="1800" b="1" dirty="0">
                <a:solidFill>
                  <a:srgbClr val="0E6E6B"/>
                </a:solidFill>
                <a:latin typeface="Calibri" pitchFamily="34" charset="0"/>
                <a:ea typeface="Calibri" pitchFamily="34" charset="-122"/>
                <a:cs typeface="Calibri" pitchFamily="34" charset="-120"/>
              </a:rPr>
              <a:t>What if the warning came two hours before the spike, while there is still time to act?</a:t>
            </a:r>
            <a:endParaRPr lang="en-US" sz="1800" dirty="0"/>
          </a:p>
        </p:txBody>
      </p:sp>
      <p:sp>
        <p:nvSpPr>
          <p:cNvPr id="19" name="Text 14"/>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20" name="Text 1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One virtual copy of each patient that does three things</a:t>
            </a:r>
            <a:endParaRPr lang="en-US" sz="3200" dirty="0"/>
          </a:p>
        </p:txBody>
      </p:sp>
      <p:sp>
        <p:nvSpPr>
          <p:cNvPr id="3" name="Shape 1"/>
          <p:cNvSpPr/>
          <p:nvPr/>
        </p:nvSpPr>
        <p:spPr>
          <a:xfrm>
            <a:off x="548640" y="1600200"/>
            <a:ext cx="3520440" cy="2971800"/>
          </a:xfrm>
          <a:prstGeom prst="roundRect">
            <a:avLst>
              <a:gd name="adj" fmla="val 3692"/>
            </a:avLst>
          </a:prstGeom>
          <a:solidFill>
            <a:srgbClr val="F3F6F5"/>
          </a:solidFill>
          <a:ln w="12700">
            <a:solidFill>
              <a:srgbClr val="F3F6F5"/>
            </a:solidFill>
            <a:prstDash val="solid"/>
          </a:ln>
        </p:spPr>
      </p:sp>
      <p:sp>
        <p:nvSpPr>
          <p:cNvPr id="4" name="Shape 2"/>
          <p:cNvSpPr/>
          <p:nvPr/>
        </p:nvSpPr>
        <p:spPr>
          <a:xfrm>
            <a:off x="868680" y="1874520"/>
            <a:ext cx="868680" cy="868680"/>
          </a:xfrm>
          <a:prstGeom prst="ellipse">
            <a:avLst/>
          </a:prstGeom>
          <a:solidFill>
            <a:srgbClr val="0E6E6B"/>
          </a:solidFill>
          <a:ln w="12700">
            <a:solidFill>
              <a:srgbClr val="0E6E6B"/>
            </a:solidFill>
            <a:prstDash val="solid"/>
          </a:ln>
        </p:spPr>
      </p:sp>
      <p:pic>
        <p:nvPicPr>
          <p:cNvPr id="5" name="Image 0" descr="preencoded.png">    </p:cNvPr>
          <p:cNvPicPr>
            <a:picLocks noChangeAspect="1"/>
          </p:cNvPicPr>
          <p:nvPr/>
        </p:nvPicPr>
        <p:blipFill>
          <a:blip r:embed="rId1"/>
          <a:stretch>
            <a:fillRect/>
          </a:stretch>
        </p:blipFill>
        <p:spPr>
          <a:xfrm>
            <a:off x="1094537" y="2100377"/>
            <a:ext cx="416966" cy="416966"/>
          </a:xfrm>
          <a:prstGeom prst="rect">
            <a:avLst/>
          </a:prstGeom>
        </p:spPr>
      </p:pic>
      <p:sp>
        <p:nvSpPr>
          <p:cNvPr id="6" name="Text 3"/>
          <p:cNvSpPr txBox="1"/>
          <p:nvPr/>
        </p:nvSpPr>
        <p:spPr>
          <a:xfrm>
            <a:off x="868680" y="2926080"/>
            <a:ext cx="2926080" cy="457200"/>
          </a:xfrm>
          <a:prstGeom prst="rect">
            <a:avLst/>
          </a:prstGeom>
          <a:noFill/>
          <a:ln/>
        </p:spPr>
        <p:txBody>
          <a:bodyPr wrap="square" lIns="0" tIns="0" rIns="0" bIns="0" rtlCol="0" anchor="t"/>
          <a:lstStyle/>
          <a:p>
            <a:pPr indent="0" marL="0">
              <a:buNone/>
            </a:pPr>
            <a:r>
              <a:rPr lang="en-US" sz="2400" b="1" dirty="0">
                <a:solidFill>
                  <a:srgbClr val="0E6E6B"/>
                </a:solidFill>
                <a:latin typeface="Cambria" pitchFamily="34" charset="0"/>
                <a:ea typeface="Cambria" pitchFamily="34" charset="-122"/>
                <a:cs typeface="Cambria" pitchFamily="34" charset="-120"/>
              </a:rPr>
              <a:t>Predict</a:t>
            </a:r>
            <a:endParaRPr lang="en-US" sz="2400" dirty="0"/>
          </a:p>
        </p:txBody>
      </p:sp>
      <p:sp>
        <p:nvSpPr>
          <p:cNvPr id="7" name="Text 4"/>
          <p:cNvSpPr txBox="1"/>
          <p:nvPr/>
        </p:nvSpPr>
        <p:spPr>
          <a:xfrm>
            <a:off x="868680" y="3474720"/>
            <a:ext cx="2926080" cy="1280160"/>
          </a:xfrm>
          <a:prstGeom prst="rect">
            <a:avLst/>
          </a:prstGeom>
          <a:noFill/>
          <a:ln/>
        </p:spPr>
        <p:txBody>
          <a:bodyPr wrap="square" lIns="0" tIns="0" rIns="0" bIns="0" rtlCol="0" anchor="t"/>
          <a:lstStyle/>
          <a:p>
            <a:pPr indent="0" marL="0">
              <a:buNone/>
            </a:pPr>
            <a:r>
              <a:rPr lang="en-US" sz="1500" dirty="0">
                <a:solidFill>
                  <a:srgbClr val="1F2A30"/>
                </a:solidFill>
                <a:latin typeface="Calibri" pitchFamily="34" charset="0"/>
                <a:ea typeface="Calibri" pitchFamily="34" charset="-122"/>
                <a:cs typeface="Calibri" pitchFamily="34" charset="-120"/>
              </a:rPr>
              <a:t>Every 15 minutes: the chance that glucose crosses 180 mg/dL in the next 2 hours.</a:t>
            </a:r>
            <a:endParaRPr lang="en-US" sz="1500" dirty="0"/>
          </a:p>
        </p:txBody>
      </p:sp>
      <p:sp>
        <p:nvSpPr>
          <p:cNvPr id="8" name="Shape 5"/>
          <p:cNvSpPr/>
          <p:nvPr/>
        </p:nvSpPr>
        <p:spPr>
          <a:xfrm>
            <a:off x="4343400" y="1600200"/>
            <a:ext cx="3520440" cy="2971800"/>
          </a:xfrm>
          <a:prstGeom prst="roundRect">
            <a:avLst>
              <a:gd name="adj" fmla="val 3692"/>
            </a:avLst>
          </a:prstGeom>
          <a:solidFill>
            <a:srgbClr val="F3F6F5"/>
          </a:solidFill>
          <a:ln w="12700">
            <a:solidFill>
              <a:srgbClr val="F3F6F5"/>
            </a:solidFill>
            <a:prstDash val="solid"/>
          </a:ln>
        </p:spPr>
      </p:sp>
      <p:sp>
        <p:nvSpPr>
          <p:cNvPr id="9" name="Shape 6"/>
          <p:cNvSpPr/>
          <p:nvPr/>
        </p:nvSpPr>
        <p:spPr>
          <a:xfrm>
            <a:off x="4663440" y="1874520"/>
            <a:ext cx="868680" cy="868680"/>
          </a:xfrm>
          <a:prstGeom prst="ellipse">
            <a:avLst/>
          </a:prstGeom>
          <a:solidFill>
            <a:srgbClr val="0E6E6B"/>
          </a:solidFill>
          <a:ln w="12700">
            <a:solidFill>
              <a:srgbClr val="0E6E6B"/>
            </a:solidFill>
            <a:prstDash val="solid"/>
          </a:ln>
        </p:spPr>
      </p:sp>
      <p:pic>
        <p:nvPicPr>
          <p:cNvPr id="10" name="Image 1" descr="preencoded.png">    </p:cNvPr>
          <p:cNvPicPr>
            <a:picLocks noChangeAspect="1"/>
          </p:cNvPicPr>
          <p:nvPr/>
        </p:nvPicPr>
        <p:blipFill>
          <a:blip r:embed="rId2"/>
          <a:stretch>
            <a:fillRect/>
          </a:stretch>
        </p:blipFill>
        <p:spPr>
          <a:xfrm>
            <a:off x="4889297" y="2100377"/>
            <a:ext cx="416966" cy="416966"/>
          </a:xfrm>
          <a:prstGeom prst="rect">
            <a:avLst/>
          </a:prstGeom>
        </p:spPr>
      </p:pic>
      <p:sp>
        <p:nvSpPr>
          <p:cNvPr id="11" name="Text 7"/>
          <p:cNvSpPr txBox="1"/>
          <p:nvPr/>
        </p:nvSpPr>
        <p:spPr>
          <a:xfrm>
            <a:off x="4663440" y="2926080"/>
            <a:ext cx="2926080" cy="457200"/>
          </a:xfrm>
          <a:prstGeom prst="rect">
            <a:avLst/>
          </a:prstGeom>
          <a:noFill/>
          <a:ln/>
        </p:spPr>
        <p:txBody>
          <a:bodyPr wrap="square" lIns="0" tIns="0" rIns="0" bIns="0" rtlCol="0" anchor="t"/>
          <a:lstStyle/>
          <a:p>
            <a:pPr indent="0" marL="0">
              <a:buNone/>
            </a:pPr>
            <a:r>
              <a:rPr lang="en-US" sz="2400" b="1" dirty="0">
                <a:solidFill>
                  <a:srgbClr val="0E6E6B"/>
                </a:solidFill>
                <a:latin typeface="Cambria" pitchFamily="34" charset="0"/>
                <a:ea typeface="Cambria" pitchFamily="34" charset="-122"/>
                <a:cs typeface="Cambria" pitchFamily="34" charset="-120"/>
              </a:rPr>
              <a:t>Explain</a:t>
            </a:r>
            <a:endParaRPr lang="en-US" sz="2400" dirty="0"/>
          </a:p>
        </p:txBody>
      </p:sp>
      <p:sp>
        <p:nvSpPr>
          <p:cNvPr id="12" name="Text 8"/>
          <p:cNvSpPr txBox="1"/>
          <p:nvPr/>
        </p:nvSpPr>
        <p:spPr>
          <a:xfrm>
            <a:off x="4663440" y="3474720"/>
            <a:ext cx="2926080" cy="1280160"/>
          </a:xfrm>
          <a:prstGeom prst="rect">
            <a:avLst/>
          </a:prstGeom>
          <a:noFill/>
          <a:ln/>
        </p:spPr>
        <p:txBody>
          <a:bodyPr wrap="square" lIns="0" tIns="0" rIns="0" bIns="0" rtlCol="0" anchor="t"/>
          <a:lstStyle/>
          <a:p>
            <a:pPr indent="0" marL="0">
              <a:buNone/>
            </a:pPr>
            <a:r>
              <a:rPr lang="en-US" sz="1500" dirty="0">
                <a:solidFill>
                  <a:srgbClr val="1F2A30"/>
                </a:solidFill>
                <a:latin typeface="Calibri" pitchFamily="34" charset="0"/>
                <a:ea typeface="Calibri" pitchFamily="34" charset="-122"/>
                <a:cs typeface="Calibri" pitchFamily="34" charset="-120"/>
              </a:rPr>
              <a:t>The reasons in plain language, e.g. 95 g of carbs 40 minutes ago, no walk, 5 hours of sleep.</a:t>
            </a:r>
            <a:endParaRPr lang="en-US" sz="1500" dirty="0"/>
          </a:p>
        </p:txBody>
      </p:sp>
      <p:sp>
        <p:nvSpPr>
          <p:cNvPr id="13" name="Shape 9"/>
          <p:cNvSpPr/>
          <p:nvPr/>
        </p:nvSpPr>
        <p:spPr>
          <a:xfrm>
            <a:off x="8138160" y="1600200"/>
            <a:ext cx="3520440" cy="2971800"/>
          </a:xfrm>
          <a:prstGeom prst="roundRect">
            <a:avLst>
              <a:gd name="adj" fmla="val 3692"/>
            </a:avLst>
          </a:prstGeom>
          <a:solidFill>
            <a:srgbClr val="F3F6F5"/>
          </a:solidFill>
          <a:ln w="12700">
            <a:solidFill>
              <a:srgbClr val="F3F6F5"/>
            </a:solidFill>
            <a:prstDash val="solid"/>
          </a:ln>
        </p:spPr>
      </p:sp>
      <p:sp>
        <p:nvSpPr>
          <p:cNvPr id="14" name="Shape 10"/>
          <p:cNvSpPr/>
          <p:nvPr/>
        </p:nvSpPr>
        <p:spPr>
          <a:xfrm>
            <a:off x="8458200" y="1874520"/>
            <a:ext cx="868680" cy="868680"/>
          </a:xfrm>
          <a:prstGeom prst="ellipse">
            <a:avLst/>
          </a:prstGeom>
          <a:solidFill>
            <a:srgbClr val="0E6E6B"/>
          </a:solidFill>
          <a:ln w="12700">
            <a:solidFill>
              <a:srgbClr val="0E6E6B"/>
            </a:solidFill>
            <a:prstDash val="solid"/>
          </a:ln>
        </p:spPr>
      </p:sp>
      <p:pic>
        <p:nvPicPr>
          <p:cNvPr id="15" name="Image 2" descr="preencoded.png">    </p:cNvPr>
          <p:cNvPicPr>
            <a:picLocks noChangeAspect="1"/>
          </p:cNvPicPr>
          <p:nvPr/>
        </p:nvPicPr>
        <p:blipFill>
          <a:blip r:embed="rId3"/>
          <a:stretch>
            <a:fillRect/>
          </a:stretch>
        </p:blipFill>
        <p:spPr>
          <a:xfrm>
            <a:off x="8684057" y="2100377"/>
            <a:ext cx="416966" cy="416966"/>
          </a:xfrm>
          <a:prstGeom prst="rect">
            <a:avLst/>
          </a:prstGeom>
        </p:spPr>
      </p:pic>
      <p:sp>
        <p:nvSpPr>
          <p:cNvPr id="16" name="Text 11"/>
          <p:cNvSpPr txBox="1"/>
          <p:nvPr/>
        </p:nvSpPr>
        <p:spPr>
          <a:xfrm>
            <a:off x="8458200" y="2926080"/>
            <a:ext cx="2926080" cy="457200"/>
          </a:xfrm>
          <a:prstGeom prst="rect">
            <a:avLst/>
          </a:prstGeom>
          <a:noFill/>
          <a:ln/>
        </p:spPr>
        <p:txBody>
          <a:bodyPr wrap="square" lIns="0" tIns="0" rIns="0" bIns="0" rtlCol="0" anchor="t"/>
          <a:lstStyle/>
          <a:p>
            <a:pPr indent="0" marL="0">
              <a:buNone/>
            </a:pPr>
            <a:r>
              <a:rPr lang="en-US" sz="2400" b="1" dirty="0">
                <a:solidFill>
                  <a:srgbClr val="0E6E6B"/>
                </a:solidFill>
                <a:latin typeface="Cambria" pitchFamily="34" charset="0"/>
                <a:ea typeface="Cambria" pitchFamily="34" charset="-122"/>
                <a:cs typeface="Cambria" pitchFamily="34" charset="-120"/>
              </a:rPr>
              <a:t>Simulate</a:t>
            </a:r>
            <a:endParaRPr lang="en-US" sz="2400" dirty="0"/>
          </a:p>
        </p:txBody>
      </p:sp>
      <p:sp>
        <p:nvSpPr>
          <p:cNvPr id="17" name="Text 12"/>
          <p:cNvSpPr txBox="1"/>
          <p:nvPr/>
        </p:nvSpPr>
        <p:spPr>
          <a:xfrm>
            <a:off x="8458200" y="3474720"/>
            <a:ext cx="2926080" cy="1280160"/>
          </a:xfrm>
          <a:prstGeom prst="rect">
            <a:avLst/>
          </a:prstGeom>
          <a:noFill/>
          <a:ln/>
        </p:spPr>
        <p:txBody>
          <a:bodyPr wrap="square" lIns="0" tIns="0" rIns="0" bIns="0" rtlCol="0" anchor="t"/>
          <a:lstStyle/>
          <a:p>
            <a:pPr indent="0" marL="0">
              <a:buNone/>
            </a:pPr>
            <a:r>
              <a:rPr lang="en-US" sz="1500" dirty="0">
                <a:solidFill>
                  <a:srgbClr val="1F2A30"/>
                </a:solidFill>
                <a:latin typeface="Calibri" pitchFamily="34" charset="0"/>
                <a:ea typeface="Calibri" pitchFamily="34" charset="-122"/>
                <a:cs typeface="Calibri" pitchFamily="34" charset="-120"/>
              </a:rPr>
              <a:t>What happens if the patient walks for 30 minutes or halves the rice? See the curve before it happens.</a:t>
            </a:r>
            <a:endParaRPr lang="en-US" sz="1500" dirty="0"/>
          </a:p>
        </p:txBody>
      </p:sp>
      <p:sp>
        <p:nvSpPr>
          <p:cNvPr id="18" name="Shape 13"/>
          <p:cNvSpPr/>
          <p:nvPr/>
        </p:nvSpPr>
        <p:spPr>
          <a:xfrm>
            <a:off x="548640" y="5029200"/>
            <a:ext cx="640080" cy="640080"/>
          </a:xfrm>
          <a:prstGeom prst="ellipse">
            <a:avLst/>
          </a:prstGeom>
          <a:solidFill>
            <a:srgbClr val="1F2A30"/>
          </a:solidFill>
          <a:ln w="12700">
            <a:solidFill>
              <a:srgbClr val="1F2A30"/>
            </a:solidFill>
            <a:prstDash val="solid"/>
          </a:ln>
        </p:spPr>
      </p:sp>
      <p:pic>
        <p:nvPicPr>
          <p:cNvPr id="19" name="Image 3" descr="preencoded.png">    </p:cNvPr>
          <p:cNvPicPr>
            <a:picLocks noChangeAspect="1"/>
          </p:cNvPicPr>
          <p:nvPr/>
        </p:nvPicPr>
        <p:blipFill>
          <a:blip r:embed="rId4"/>
          <a:stretch>
            <a:fillRect/>
          </a:stretch>
        </p:blipFill>
        <p:spPr>
          <a:xfrm>
            <a:off x="715061" y="5195621"/>
            <a:ext cx="307238" cy="307238"/>
          </a:xfrm>
          <a:prstGeom prst="rect">
            <a:avLst/>
          </a:prstGeom>
        </p:spPr>
      </p:pic>
      <p:sp>
        <p:nvSpPr>
          <p:cNvPr id="20" name="Text 14"/>
          <p:cNvSpPr txBox="1"/>
          <p:nvPr/>
        </p:nvSpPr>
        <p:spPr>
          <a:xfrm>
            <a:off x="1371600" y="5029200"/>
            <a:ext cx="10241280" cy="640080"/>
          </a:xfrm>
          <a:prstGeom prst="rect">
            <a:avLst/>
          </a:prstGeom>
          <a:noFill/>
          <a:ln/>
        </p:spPr>
        <p:txBody>
          <a:bodyPr wrap="square" lIns="0" tIns="0" rIns="0" bIns="0" rtlCol="0" anchor="ctr"/>
          <a:lstStyle/>
          <a:p>
            <a:pPr indent="0" marL="0">
              <a:buNone/>
            </a:pPr>
            <a:r>
              <a:rPr lang="en-US" sz="1500" dirty="0">
                <a:solidFill>
                  <a:srgbClr val="5F6E74"/>
                </a:solidFill>
                <a:latin typeface="Calibri" pitchFamily="34" charset="0"/>
                <a:ea typeface="Calibri" pitchFamily="34" charset="-122"/>
                <a:cs typeface="Calibri" pitchFamily="34" charset="-120"/>
              </a:rPr>
              <a:t>Built for diabetologists and primary-care doctors who monitor many patients remotely; a patient app is the next step.</a:t>
            </a:r>
            <a:endParaRPr lang="en-US" sz="1500" dirty="0"/>
          </a:p>
        </p:txBody>
      </p:sp>
      <p:sp>
        <p:nvSpPr>
          <p:cNvPr id="21" name="Text 15"/>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22" name="Text 16"/>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The twin fuses two data streams</a:t>
            </a:r>
            <a:endParaRPr lang="en-US" sz="32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All 100 patients are synthetic, as the challenge requires (DPDP Act, HIPAA)</a:t>
            </a:r>
            <a:endParaRPr lang="en-US" sz="1600" dirty="0"/>
          </a:p>
        </p:txBody>
      </p:sp>
      <p:sp>
        <p:nvSpPr>
          <p:cNvPr id="4" name="Shape 2"/>
          <p:cNvSpPr/>
          <p:nvPr/>
        </p:nvSpPr>
        <p:spPr>
          <a:xfrm>
            <a:off x="548640" y="1783080"/>
            <a:ext cx="4572000" cy="4023360"/>
          </a:xfrm>
          <a:prstGeom prst="roundRect">
            <a:avLst>
              <a:gd name="adj" fmla="val 2727"/>
            </a:avLst>
          </a:prstGeom>
          <a:solidFill>
            <a:srgbClr val="F3F6F5"/>
          </a:solidFill>
          <a:ln w="12700">
            <a:solidFill>
              <a:srgbClr val="F3F6F5"/>
            </a:solidFill>
            <a:prstDash val="solid"/>
          </a:ln>
        </p:spPr>
      </p:sp>
      <p:sp>
        <p:nvSpPr>
          <p:cNvPr id="5" name="Text 3"/>
          <p:cNvSpPr txBox="1"/>
          <p:nvPr/>
        </p:nvSpPr>
        <p:spPr>
          <a:xfrm>
            <a:off x="868680" y="1965960"/>
            <a:ext cx="3931920" cy="411480"/>
          </a:xfrm>
          <a:prstGeom prst="rect">
            <a:avLst/>
          </a:prstGeom>
          <a:noFill/>
          <a:ln/>
        </p:spPr>
        <p:txBody>
          <a:bodyPr wrap="square" lIns="0" tIns="0" rIns="0" bIns="0" rtlCol="0" anchor="t"/>
          <a:lstStyle/>
          <a:p>
            <a:pPr indent="0" marL="0">
              <a:buNone/>
            </a:pPr>
            <a:r>
              <a:rPr lang="en-US" sz="2200" b="1" dirty="0">
                <a:solidFill>
                  <a:srgbClr val="0E6E6B"/>
                </a:solidFill>
                <a:latin typeface="Cambria" pitchFamily="34" charset="0"/>
                <a:ea typeface="Cambria" pitchFamily="34" charset="-122"/>
                <a:cs typeface="Cambria" pitchFamily="34" charset="-120"/>
              </a:rPr>
              <a:t>Health record</a:t>
            </a:r>
            <a:endParaRPr lang="en-US" sz="2200" dirty="0"/>
          </a:p>
        </p:txBody>
      </p:sp>
      <p:sp>
        <p:nvSpPr>
          <p:cNvPr id="6" name="Text 4"/>
          <p:cNvSpPr txBox="1"/>
          <p:nvPr/>
        </p:nvSpPr>
        <p:spPr>
          <a:xfrm>
            <a:off x="868680" y="2395728"/>
            <a:ext cx="3931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Static, from the hospital file</a:t>
            </a:r>
            <a:endParaRPr lang="en-US" sz="1300" dirty="0"/>
          </a:p>
        </p:txBody>
      </p:sp>
      <p:sp>
        <p:nvSpPr>
          <p:cNvPr id="7" name="Text 5"/>
          <p:cNvSpPr txBox="1"/>
          <p:nvPr/>
        </p:nvSpPr>
        <p:spPr>
          <a:xfrm>
            <a:off x="868680" y="288036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Age, sex, BMI, years with diabetes</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HbA1c, fasting glucose, cholesterol, creatinine</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Medication, blood pressure, past diagnoses</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Family history and TCF7L2 genetic risk marker</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Diet pattern and activity level</a:t>
            </a:r>
            <a:endParaRPr lang="en-US" sz="1500" dirty="0"/>
          </a:p>
        </p:txBody>
      </p:sp>
      <p:sp>
        <p:nvSpPr>
          <p:cNvPr id="8" name="Shape 6"/>
          <p:cNvSpPr/>
          <p:nvPr/>
        </p:nvSpPr>
        <p:spPr>
          <a:xfrm>
            <a:off x="7040880" y="1783080"/>
            <a:ext cx="4572000" cy="4023360"/>
          </a:xfrm>
          <a:prstGeom prst="roundRect">
            <a:avLst>
              <a:gd name="adj" fmla="val 2727"/>
            </a:avLst>
          </a:prstGeom>
          <a:solidFill>
            <a:srgbClr val="F3F6F5"/>
          </a:solidFill>
          <a:ln w="12700">
            <a:solidFill>
              <a:srgbClr val="F3F6F5"/>
            </a:solidFill>
            <a:prstDash val="solid"/>
          </a:ln>
        </p:spPr>
      </p:sp>
      <p:sp>
        <p:nvSpPr>
          <p:cNvPr id="9" name="Text 7"/>
          <p:cNvSpPr txBox="1"/>
          <p:nvPr/>
        </p:nvSpPr>
        <p:spPr>
          <a:xfrm>
            <a:off x="7360920" y="1965960"/>
            <a:ext cx="3931920" cy="411480"/>
          </a:xfrm>
          <a:prstGeom prst="rect">
            <a:avLst/>
          </a:prstGeom>
          <a:noFill/>
          <a:ln/>
        </p:spPr>
        <p:txBody>
          <a:bodyPr wrap="square" lIns="0" tIns="0" rIns="0" bIns="0" rtlCol="0" anchor="t"/>
          <a:lstStyle/>
          <a:p>
            <a:pPr indent="0" marL="0">
              <a:buNone/>
            </a:pPr>
            <a:r>
              <a:rPr lang="en-US" sz="2200" b="1" dirty="0">
                <a:solidFill>
                  <a:srgbClr val="0E6E6B"/>
                </a:solidFill>
                <a:latin typeface="Cambria" pitchFamily="34" charset="0"/>
                <a:ea typeface="Cambria" pitchFamily="34" charset="-122"/>
                <a:cs typeface="Cambria" pitchFamily="34" charset="-120"/>
              </a:rPr>
              <a:t>Wearables</a:t>
            </a:r>
            <a:endParaRPr lang="en-US" sz="2200" dirty="0"/>
          </a:p>
        </p:txBody>
      </p:sp>
      <p:sp>
        <p:nvSpPr>
          <p:cNvPr id="10" name="Text 8"/>
          <p:cNvSpPr txBox="1"/>
          <p:nvPr/>
        </p:nvSpPr>
        <p:spPr>
          <a:xfrm>
            <a:off x="7360920" y="2395728"/>
            <a:ext cx="3931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Dynamic, every 5 minutes for 14 days</a:t>
            </a:r>
            <a:endParaRPr lang="en-US" sz="1300" dirty="0"/>
          </a:p>
        </p:txBody>
      </p:sp>
      <p:sp>
        <p:nvSpPr>
          <p:cNvPr id="11" name="Text 9"/>
          <p:cNvSpPr txBox="1"/>
          <p:nvPr/>
        </p:nvSpPr>
        <p:spPr>
          <a:xfrm>
            <a:off x="7360920" y="288036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Continuous glucose monitor</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Heart rate and steps</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Sleep stages: light, deep, REM</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Overnight heart-rate variability</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Meals logged in an app (carbs)</a:t>
            </a:r>
            <a:endParaRPr lang="en-US" sz="1500" dirty="0"/>
          </a:p>
        </p:txBody>
      </p:sp>
      <p:sp>
        <p:nvSpPr>
          <p:cNvPr id="12" name="Shape 10"/>
          <p:cNvSpPr/>
          <p:nvPr/>
        </p:nvSpPr>
        <p:spPr>
          <a:xfrm>
            <a:off x="5440680" y="3200400"/>
            <a:ext cx="1280160" cy="1280160"/>
          </a:xfrm>
          <a:prstGeom prst="ellipse">
            <a:avLst/>
          </a:prstGeom>
          <a:solidFill>
            <a:srgbClr val="0E6E6B"/>
          </a:solidFill>
          <a:ln w="12700">
            <a:solidFill>
              <a:srgbClr val="0E6E6B"/>
            </a:solidFill>
            <a:prstDash val="solid"/>
          </a:ln>
        </p:spPr>
      </p:sp>
      <p:sp>
        <p:nvSpPr>
          <p:cNvPr id="13" name="Text 11"/>
          <p:cNvSpPr txBox="1"/>
          <p:nvPr/>
        </p:nvSpPr>
        <p:spPr>
          <a:xfrm>
            <a:off x="5440680" y="3200400"/>
            <a:ext cx="1280160" cy="12801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Twin</a:t>
            </a:r>
            <a:endParaRPr lang="en-US" sz="2000" dirty="0"/>
          </a:p>
        </p:txBody>
      </p:sp>
      <p:sp>
        <p:nvSpPr>
          <p:cNvPr id="14" name="Shape 12"/>
          <p:cNvSpPr/>
          <p:nvPr/>
        </p:nvSpPr>
        <p:spPr>
          <a:xfrm>
            <a:off x="5120640" y="3840480"/>
            <a:ext cx="301752" cy="0"/>
          </a:xfrm>
          <a:prstGeom prst="line">
            <a:avLst/>
          </a:prstGeom>
          <a:noFill/>
          <a:ln w="22225">
            <a:solidFill>
              <a:srgbClr val="0E6E6B"/>
            </a:solidFill>
            <a:prstDash val="solid"/>
            <a:tailEnd type="triangle"/>
          </a:ln>
        </p:spPr>
      </p:sp>
      <p:sp>
        <p:nvSpPr>
          <p:cNvPr id="15" name="Shape 13"/>
          <p:cNvSpPr/>
          <p:nvPr/>
        </p:nvSpPr>
        <p:spPr>
          <a:xfrm>
            <a:off x="7022592" y="3840480"/>
            <a:ext cx="-283464" cy="0"/>
          </a:xfrm>
          <a:prstGeom prst="line">
            <a:avLst/>
          </a:prstGeom>
          <a:noFill/>
          <a:ln w="22225">
            <a:solidFill>
              <a:srgbClr val="0E6E6B"/>
            </a:solidFill>
            <a:prstDash val="solid"/>
            <a:tailEnd type="triangle"/>
          </a:ln>
        </p:spPr>
      </p:sp>
      <p:sp>
        <p:nvSpPr>
          <p:cNvPr id="16" name="Text 14"/>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17" name="Text 1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Synthetic, but behaving like real patients</a:t>
            </a:r>
            <a:endParaRPr lang="en-US" sz="3200" dirty="0"/>
          </a:p>
        </p:txBody>
      </p:sp>
      <p:pic>
        <p:nvPicPr>
          <p:cNvPr id="3" name="Image 0" descr="preencoded.png">    </p:cNvPr>
          <p:cNvPicPr>
            <a:picLocks noChangeAspect="1"/>
          </p:cNvPicPr>
          <p:nvPr/>
        </p:nvPicPr>
        <p:blipFill>
          <a:blip r:embed="rId1"/>
          <a:stretch>
            <a:fillRect/>
          </a:stretch>
        </p:blipFill>
        <p:spPr>
          <a:xfrm>
            <a:off x="548640" y="1463040"/>
            <a:ext cx="5669280" cy="4074795"/>
          </a:xfrm>
          <a:prstGeom prst="rect">
            <a:avLst/>
          </a:prstGeom>
        </p:spPr>
      </p:pic>
      <p:sp>
        <p:nvSpPr>
          <p:cNvPr id="4" name="Text 1"/>
          <p:cNvSpPr txBox="1"/>
          <p:nvPr/>
        </p:nvSpPr>
        <p:spPr>
          <a:xfrm>
            <a:off x="548640" y="5577840"/>
            <a:ext cx="5669280" cy="548640"/>
          </a:xfrm>
          <a:prstGeom prst="rect">
            <a:avLst/>
          </a:prstGeom>
          <a:noFill/>
          <a:ln/>
        </p:spPr>
        <p:txBody>
          <a:bodyPr wrap="square" lIns="0" tIns="0" rIns="0" bIns="0" rtlCol="0" anchor="t"/>
          <a:lstStyle/>
          <a:p>
            <a:pPr indent="0" marL="0">
              <a:buNone/>
            </a:pPr>
            <a:r>
              <a:rPr lang="en-US" sz="1200" i="1" dirty="0">
                <a:solidFill>
                  <a:srgbClr val="5F6E74"/>
                </a:solidFill>
                <a:latin typeface="Calibri" pitchFamily="34" charset="0"/>
                <a:ea typeface="Calibri" pitchFamily="34" charset="-122"/>
                <a:cs typeface="Calibri" pitchFamily="34" charset="-120"/>
              </a:rPr>
              <a:t>Health records and wearable data agree: patients with worse HbA1c spend less time in the healthy range.</a:t>
            </a:r>
            <a:endParaRPr lang="en-US" sz="1200" dirty="0"/>
          </a:p>
        </p:txBody>
      </p:sp>
      <p:sp>
        <p:nvSpPr>
          <p:cNvPr id="5" name="Text 2"/>
          <p:cNvSpPr txBox="1"/>
          <p:nvPr/>
        </p:nvSpPr>
        <p:spPr>
          <a:xfrm>
            <a:off x="6675120" y="1600200"/>
            <a:ext cx="4937760" cy="365760"/>
          </a:xfrm>
          <a:prstGeom prst="rect">
            <a:avLst/>
          </a:prstGeom>
          <a:noFill/>
          <a:ln/>
        </p:spPr>
        <p:txBody>
          <a:bodyPr wrap="square" lIns="0" tIns="0" rIns="0" bIns="0" rtlCol="0" anchor="t"/>
          <a:lstStyle/>
          <a:p>
            <a:pPr indent="0" marL="0">
              <a:buNone/>
            </a:pPr>
            <a:r>
              <a:rPr lang="en-US" sz="1800" b="1" dirty="0">
                <a:solidFill>
                  <a:srgbClr val="0E6E6B"/>
                </a:solidFill>
                <a:latin typeface="Calibri" pitchFamily="34" charset="0"/>
                <a:ea typeface="Calibri" pitchFamily="34" charset="-122"/>
                <a:cs typeface="Calibri" pitchFamily="34" charset="-120"/>
              </a:rPr>
              <a:t>Indian routines</a:t>
            </a:r>
            <a:endParaRPr lang="en-US" sz="1800" dirty="0"/>
          </a:p>
        </p:txBody>
      </p:sp>
      <p:sp>
        <p:nvSpPr>
          <p:cNvPr id="6" name="Text 3"/>
          <p:cNvSpPr txBox="1"/>
          <p:nvPr/>
        </p:nvSpPr>
        <p:spPr>
          <a:xfrm>
            <a:off x="6675120" y="1984248"/>
            <a:ext cx="4937760" cy="86868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Rice or wheat diets, heavy lunch, evening chai, late dinner, weekend and festival meals.</a:t>
            </a:r>
            <a:endParaRPr lang="en-US" sz="1400" dirty="0"/>
          </a:p>
        </p:txBody>
      </p:sp>
      <p:sp>
        <p:nvSpPr>
          <p:cNvPr id="7" name="Text 4"/>
          <p:cNvSpPr txBox="1"/>
          <p:nvPr/>
        </p:nvSpPr>
        <p:spPr>
          <a:xfrm>
            <a:off x="6675120" y="2971800"/>
            <a:ext cx="4937760" cy="365760"/>
          </a:xfrm>
          <a:prstGeom prst="rect">
            <a:avLst/>
          </a:prstGeom>
          <a:noFill/>
          <a:ln/>
        </p:spPr>
        <p:txBody>
          <a:bodyPr wrap="square" lIns="0" tIns="0" rIns="0" bIns="0" rtlCol="0" anchor="t"/>
          <a:lstStyle/>
          <a:p>
            <a:pPr indent="0" marL="0">
              <a:buNone/>
            </a:pPr>
            <a:r>
              <a:rPr lang="en-US" sz="1800" b="1" dirty="0">
                <a:solidFill>
                  <a:srgbClr val="0E6E6B"/>
                </a:solidFill>
                <a:latin typeface="Calibri" pitchFamily="34" charset="0"/>
                <a:ea typeface="Calibri" pitchFamily="34" charset="-122"/>
                <a:cs typeface="Calibri" pitchFamily="34" charset="-120"/>
              </a:rPr>
              <a:t>Real-life mess</a:t>
            </a:r>
            <a:endParaRPr lang="en-US" sz="1800" dirty="0"/>
          </a:p>
        </p:txBody>
      </p:sp>
      <p:sp>
        <p:nvSpPr>
          <p:cNvPr id="8" name="Text 5"/>
          <p:cNvSpPr txBox="1"/>
          <p:nvPr/>
        </p:nvSpPr>
        <p:spPr>
          <a:xfrm>
            <a:off x="6675120" y="3355848"/>
            <a:ext cx="4937760" cy="86868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15% of meals unlogged, portions misjudged by ±20%, sensor noise and signal gaps.</a:t>
            </a:r>
            <a:endParaRPr lang="en-US" sz="1400" dirty="0"/>
          </a:p>
        </p:txBody>
      </p:sp>
      <p:sp>
        <p:nvSpPr>
          <p:cNvPr id="9" name="Text 6"/>
          <p:cNvSpPr txBox="1"/>
          <p:nvPr/>
        </p:nvSpPr>
        <p:spPr>
          <a:xfrm>
            <a:off x="6675120" y="4343400"/>
            <a:ext cx="4937760" cy="365760"/>
          </a:xfrm>
          <a:prstGeom prst="rect">
            <a:avLst/>
          </a:prstGeom>
          <a:noFill/>
          <a:ln/>
        </p:spPr>
        <p:txBody>
          <a:bodyPr wrap="square" lIns="0" tIns="0" rIns="0" bIns="0" rtlCol="0" anchor="t"/>
          <a:lstStyle/>
          <a:p>
            <a:pPr indent="0" marL="0">
              <a:buNone/>
            </a:pPr>
            <a:r>
              <a:rPr lang="en-US" sz="1800" b="1" dirty="0">
                <a:solidFill>
                  <a:srgbClr val="0E6E6B"/>
                </a:solidFill>
                <a:latin typeface="Calibri" pitchFamily="34" charset="0"/>
                <a:ea typeface="Calibri" pitchFamily="34" charset="-122"/>
                <a:cs typeface="Calibri" pitchFamily="34" charset="-120"/>
              </a:rPr>
              <a:t>Checked against medicine</a:t>
            </a:r>
            <a:endParaRPr lang="en-US" sz="1800" dirty="0"/>
          </a:p>
        </p:txBody>
      </p:sp>
      <p:sp>
        <p:nvSpPr>
          <p:cNvPr id="10" name="Text 7"/>
          <p:cNvSpPr txBox="1"/>
          <p:nvPr/>
        </p:nvSpPr>
        <p:spPr>
          <a:xfrm>
            <a:off x="6675120" y="4727448"/>
            <a:ext cx="4937760" cy="86868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Average glucose matches the ADAG formula from HbA1c; time in range vs HbA1c correlation −0.96; median 5,200 steps and 6.8 h sleep.</a:t>
            </a:r>
            <a:endParaRPr lang="en-US" sz="1400" dirty="0"/>
          </a:p>
        </p:txBody>
      </p:sp>
      <p:sp>
        <p:nvSpPr>
          <p:cNvPr id="11" name="Text 8"/>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12" name="Text 9"/>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How it works: a hybrid twin with two engines</a:t>
            </a:r>
            <a:endParaRPr lang="en-US" sz="3200" dirty="0"/>
          </a:p>
        </p:txBody>
      </p:sp>
      <p:sp>
        <p:nvSpPr>
          <p:cNvPr id="3" name="Shape 1"/>
          <p:cNvSpPr/>
          <p:nvPr/>
        </p:nvSpPr>
        <p:spPr>
          <a:xfrm>
            <a:off x="365760" y="1280160"/>
            <a:ext cx="2697480" cy="3794760"/>
          </a:xfrm>
          <a:prstGeom prst="roundRect">
            <a:avLst>
              <a:gd name="adj" fmla="val 3390"/>
            </a:avLst>
          </a:prstGeom>
          <a:solidFill>
            <a:srgbClr val="E3EEEC"/>
          </a:solidFill>
          <a:ln w="12700">
            <a:solidFill>
              <a:srgbClr val="E3EEEC"/>
            </a:solidFill>
            <a:prstDash val="solid"/>
          </a:ln>
        </p:spPr>
      </p:sp>
      <p:sp>
        <p:nvSpPr>
          <p:cNvPr id="4" name="Text 2"/>
          <p:cNvSpPr txBox="1"/>
          <p:nvPr/>
        </p:nvSpPr>
        <p:spPr>
          <a:xfrm>
            <a:off x="457200" y="1371600"/>
            <a:ext cx="2514600" cy="320040"/>
          </a:xfrm>
          <a:prstGeom prst="rect">
            <a:avLst/>
          </a:prstGeom>
          <a:noFill/>
          <a:ln/>
        </p:spPr>
        <p:txBody>
          <a:bodyPr wrap="square" lIns="0" tIns="0" rIns="0" bIns="0" rtlCol="0" anchor="t"/>
          <a:lstStyle/>
          <a:p>
            <a:pPr indent="0" marL="0">
              <a:buNone/>
            </a:pPr>
            <a:r>
              <a:rPr lang="en-US" sz="1300" b="1" dirty="0">
                <a:solidFill>
                  <a:srgbClr val="0E6E6B"/>
                </a:solidFill>
                <a:latin typeface="Calibri" pitchFamily="34" charset="0"/>
                <a:ea typeface="Calibri" pitchFamily="34" charset="-122"/>
                <a:cs typeface="Calibri" pitchFamily="34" charset="-120"/>
              </a:rPr>
              <a:t>1  Data sources</a:t>
            </a:r>
            <a:endParaRPr lang="en-US" sz="1300" dirty="0"/>
          </a:p>
        </p:txBody>
      </p:sp>
      <p:sp>
        <p:nvSpPr>
          <p:cNvPr id="5" name="Shape 3"/>
          <p:cNvSpPr/>
          <p:nvPr/>
        </p:nvSpPr>
        <p:spPr>
          <a:xfrm>
            <a:off x="3246120" y="1280160"/>
            <a:ext cx="2697480" cy="3794760"/>
          </a:xfrm>
          <a:prstGeom prst="roundRect">
            <a:avLst>
              <a:gd name="adj" fmla="val 3390"/>
            </a:avLst>
          </a:prstGeom>
          <a:solidFill>
            <a:srgbClr val="E3EEEC"/>
          </a:solidFill>
          <a:ln w="12700">
            <a:solidFill>
              <a:srgbClr val="E3EEEC"/>
            </a:solidFill>
            <a:prstDash val="solid"/>
          </a:ln>
        </p:spPr>
      </p:sp>
      <p:sp>
        <p:nvSpPr>
          <p:cNvPr id="6" name="Text 4"/>
          <p:cNvSpPr txBox="1"/>
          <p:nvPr/>
        </p:nvSpPr>
        <p:spPr>
          <a:xfrm>
            <a:off x="3337560" y="1371600"/>
            <a:ext cx="2514600" cy="320040"/>
          </a:xfrm>
          <a:prstGeom prst="rect">
            <a:avLst/>
          </a:prstGeom>
          <a:noFill/>
          <a:ln/>
        </p:spPr>
        <p:txBody>
          <a:bodyPr wrap="square" lIns="0" tIns="0" rIns="0" bIns="0" rtlCol="0" anchor="t"/>
          <a:lstStyle/>
          <a:p>
            <a:pPr indent="0" marL="0">
              <a:buNone/>
            </a:pPr>
            <a:r>
              <a:rPr lang="en-US" sz="1300" b="1" dirty="0">
                <a:solidFill>
                  <a:srgbClr val="0E6E6B"/>
                </a:solidFill>
                <a:latin typeface="Calibri" pitchFamily="34" charset="0"/>
                <a:ea typeface="Calibri" pitchFamily="34" charset="-122"/>
                <a:cs typeface="Calibri" pitchFamily="34" charset="-120"/>
              </a:rPr>
              <a:t>2  Processing</a:t>
            </a:r>
            <a:endParaRPr lang="en-US" sz="1300" dirty="0"/>
          </a:p>
        </p:txBody>
      </p:sp>
      <p:sp>
        <p:nvSpPr>
          <p:cNvPr id="7" name="Shape 5"/>
          <p:cNvSpPr/>
          <p:nvPr/>
        </p:nvSpPr>
        <p:spPr>
          <a:xfrm>
            <a:off x="6126480" y="1280160"/>
            <a:ext cx="2834640" cy="3794760"/>
          </a:xfrm>
          <a:prstGeom prst="roundRect">
            <a:avLst>
              <a:gd name="adj" fmla="val 3226"/>
            </a:avLst>
          </a:prstGeom>
          <a:solidFill>
            <a:srgbClr val="E3EEEC"/>
          </a:solidFill>
          <a:ln w="12700">
            <a:solidFill>
              <a:srgbClr val="E3EEEC"/>
            </a:solidFill>
            <a:prstDash val="solid"/>
          </a:ln>
        </p:spPr>
      </p:sp>
      <p:sp>
        <p:nvSpPr>
          <p:cNvPr id="8" name="Text 6"/>
          <p:cNvSpPr txBox="1"/>
          <p:nvPr/>
        </p:nvSpPr>
        <p:spPr>
          <a:xfrm>
            <a:off x="6217920" y="1371600"/>
            <a:ext cx="2651760" cy="320040"/>
          </a:xfrm>
          <a:prstGeom prst="rect">
            <a:avLst/>
          </a:prstGeom>
          <a:noFill/>
          <a:ln/>
        </p:spPr>
        <p:txBody>
          <a:bodyPr wrap="square" lIns="0" tIns="0" rIns="0" bIns="0" rtlCol="0" anchor="t"/>
          <a:lstStyle/>
          <a:p>
            <a:pPr indent="0" marL="0">
              <a:buNone/>
            </a:pPr>
            <a:r>
              <a:rPr lang="en-US" sz="1300" b="1" dirty="0">
                <a:solidFill>
                  <a:srgbClr val="0E6E6B"/>
                </a:solidFill>
                <a:latin typeface="Calibri" pitchFamily="34" charset="0"/>
                <a:ea typeface="Calibri" pitchFamily="34" charset="-122"/>
                <a:cs typeface="Calibri" pitchFamily="34" charset="-120"/>
              </a:rPr>
              <a:t>3  Twin engines</a:t>
            </a:r>
            <a:endParaRPr lang="en-US" sz="1300" dirty="0"/>
          </a:p>
        </p:txBody>
      </p:sp>
      <p:sp>
        <p:nvSpPr>
          <p:cNvPr id="9" name="Shape 7"/>
          <p:cNvSpPr/>
          <p:nvPr/>
        </p:nvSpPr>
        <p:spPr>
          <a:xfrm>
            <a:off x="9144000" y="1280160"/>
            <a:ext cx="2697480" cy="3794760"/>
          </a:xfrm>
          <a:prstGeom prst="roundRect">
            <a:avLst>
              <a:gd name="adj" fmla="val 3390"/>
            </a:avLst>
          </a:prstGeom>
          <a:solidFill>
            <a:srgbClr val="E3EEEC"/>
          </a:solidFill>
          <a:ln w="12700">
            <a:solidFill>
              <a:srgbClr val="E3EEEC"/>
            </a:solidFill>
            <a:prstDash val="solid"/>
          </a:ln>
        </p:spPr>
      </p:sp>
      <p:sp>
        <p:nvSpPr>
          <p:cNvPr id="10" name="Text 8"/>
          <p:cNvSpPr txBox="1"/>
          <p:nvPr/>
        </p:nvSpPr>
        <p:spPr>
          <a:xfrm>
            <a:off x="9235440" y="1371600"/>
            <a:ext cx="2514600" cy="320040"/>
          </a:xfrm>
          <a:prstGeom prst="rect">
            <a:avLst/>
          </a:prstGeom>
          <a:noFill/>
          <a:ln/>
        </p:spPr>
        <p:txBody>
          <a:bodyPr wrap="square" lIns="0" tIns="0" rIns="0" bIns="0" rtlCol="0" anchor="t"/>
          <a:lstStyle/>
          <a:p>
            <a:pPr indent="0" marL="0">
              <a:buNone/>
            </a:pPr>
            <a:r>
              <a:rPr lang="en-US" sz="1300" b="1" dirty="0">
                <a:solidFill>
                  <a:srgbClr val="0E6E6B"/>
                </a:solidFill>
                <a:latin typeface="Calibri" pitchFamily="34" charset="0"/>
                <a:ea typeface="Calibri" pitchFamily="34" charset="-122"/>
                <a:cs typeface="Calibri" pitchFamily="34" charset="-120"/>
              </a:rPr>
              <a:t>4  Doctor dashboard</a:t>
            </a:r>
            <a:endParaRPr lang="en-US" sz="1300" dirty="0"/>
          </a:p>
        </p:txBody>
      </p:sp>
      <p:sp>
        <p:nvSpPr>
          <p:cNvPr id="11" name="Shape 9"/>
          <p:cNvSpPr/>
          <p:nvPr/>
        </p:nvSpPr>
        <p:spPr>
          <a:xfrm>
            <a:off x="457200" y="1755648"/>
            <a:ext cx="2514600" cy="777240"/>
          </a:xfrm>
          <a:prstGeom prst="roundRect">
            <a:avLst>
              <a:gd name="adj" fmla="val 9412"/>
            </a:avLst>
          </a:prstGeom>
          <a:solidFill>
            <a:srgbClr val="FFFFFF"/>
          </a:solidFill>
          <a:ln w="12700">
            <a:solidFill>
              <a:srgbClr val="C9D6D3"/>
            </a:solidFill>
            <a:prstDash val="solid"/>
          </a:ln>
        </p:spPr>
      </p:sp>
      <p:sp>
        <p:nvSpPr>
          <p:cNvPr id="12" name="Text 10"/>
          <p:cNvSpPr txBox="1"/>
          <p:nvPr/>
        </p:nvSpPr>
        <p:spPr>
          <a:xfrm>
            <a:off x="566928" y="1828800"/>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Health record (EHR)</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Age, BMI, HbA1c, medication, BP, lipids, diagnoses, TCF7L2 gene</a:t>
            </a:r>
            <a:endParaRPr lang="en-US" sz="1200" dirty="0"/>
          </a:p>
        </p:txBody>
      </p:sp>
      <p:sp>
        <p:nvSpPr>
          <p:cNvPr id="13" name="Shape 11"/>
          <p:cNvSpPr/>
          <p:nvPr/>
        </p:nvSpPr>
        <p:spPr>
          <a:xfrm>
            <a:off x="457200" y="2606040"/>
            <a:ext cx="2514600" cy="777240"/>
          </a:xfrm>
          <a:prstGeom prst="roundRect">
            <a:avLst>
              <a:gd name="adj" fmla="val 9412"/>
            </a:avLst>
          </a:prstGeom>
          <a:solidFill>
            <a:srgbClr val="FFFFFF"/>
          </a:solidFill>
          <a:ln w="12700">
            <a:solidFill>
              <a:srgbClr val="C9D6D3"/>
            </a:solidFill>
            <a:prstDash val="solid"/>
          </a:ln>
        </p:spPr>
      </p:sp>
      <p:sp>
        <p:nvSpPr>
          <p:cNvPr id="14" name="Text 12"/>
          <p:cNvSpPr txBox="1"/>
          <p:nvPr/>
        </p:nvSpPr>
        <p:spPr>
          <a:xfrm>
            <a:off x="566928" y="2679192"/>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Wearable stream, every 5 min</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Glucose monitor, heart rate, steps, sleep stages, meal log</a:t>
            </a:r>
            <a:endParaRPr lang="en-US" sz="1200" dirty="0"/>
          </a:p>
        </p:txBody>
      </p:sp>
      <p:sp>
        <p:nvSpPr>
          <p:cNvPr id="15" name="Shape 13"/>
          <p:cNvSpPr/>
          <p:nvPr/>
        </p:nvSpPr>
        <p:spPr>
          <a:xfrm>
            <a:off x="457200" y="3456432"/>
            <a:ext cx="2514600" cy="640080"/>
          </a:xfrm>
          <a:prstGeom prst="roundRect">
            <a:avLst>
              <a:gd name="adj" fmla="val 11429"/>
            </a:avLst>
          </a:prstGeom>
          <a:solidFill>
            <a:srgbClr val="FFFFFF"/>
          </a:solidFill>
          <a:ln w="12700">
            <a:solidFill>
              <a:srgbClr val="C9D6D3"/>
            </a:solidFill>
            <a:prstDash val="solid"/>
          </a:ln>
        </p:spPr>
      </p:sp>
      <p:sp>
        <p:nvSpPr>
          <p:cNvPr id="16" name="Text 14"/>
          <p:cNvSpPr txBox="1"/>
          <p:nvPr/>
        </p:nvSpPr>
        <p:spPr>
          <a:xfrm>
            <a:off x="566928" y="3529584"/>
            <a:ext cx="2295144" cy="49377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Daily summary</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Sleep hours, deep sleep, overnight HRV</a:t>
            </a:r>
            <a:endParaRPr lang="en-US" sz="1200" dirty="0"/>
          </a:p>
        </p:txBody>
      </p:sp>
      <p:sp>
        <p:nvSpPr>
          <p:cNvPr id="17" name="Shape 15"/>
          <p:cNvSpPr/>
          <p:nvPr/>
        </p:nvSpPr>
        <p:spPr>
          <a:xfrm>
            <a:off x="457200" y="4169664"/>
            <a:ext cx="2514600" cy="777240"/>
          </a:xfrm>
          <a:prstGeom prst="roundRect">
            <a:avLst>
              <a:gd name="adj" fmla="val 9412"/>
            </a:avLst>
          </a:prstGeom>
          <a:solidFill>
            <a:srgbClr val="FFFFFF"/>
          </a:solidFill>
          <a:ln w="12700">
            <a:solidFill>
              <a:srgbClr val="5F6E74"/>
            </a:solidFill>
            <a:prstDash val="dash"/>
          </a:ln>
        </p:spPr>
      </p:sp>
      <p:sp>
        <p:nvSpPr>
          <p:cNvPr id="18" name="Text 16"/>
          <p:cNvSpPr txBox="1"/>
          <p:nvPr/>
        </p:nvSpPr>
        <p:spPr>
          <a:xfrm>
            <a:off x="566928" y="4242816"/>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Future: real devices</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CGM and watch APIs, consent-based ABDM health records</a:t>
            </a:r>
            <a:endParaRPr lang="en-US" sz="1200" dirty="0"/>
          </a:p>
        </p:txBody>
      </p:sp>
      <p:sp>
        <p:nvSpPr>
          <p:cNvPr id="19" name="Shape 17"/>
          <p:cNvSpPr/>
          <p:nvPr/>
        </p:nvSpPr>
        <p:spPr>
          <a:xfrm>
            <a:off x="3337560" y="1755648"/>
            <a:ext cx="2514600" cy="777240"/>
          </a:xfrm>
          <a:prstGeom prst="roundRect">
            <a:avLst>
              <a:gd name="adj" fmla="val 9412"/>
            </a:avLst>
          </a:prstGeom>
          <a:solidFill>
            <a:srgbClr val="FFFFFF"/>
          </a:solidFill>
          <a:ln w="12700">
            <a:solidFill>
              <a:srgbClr val="C9D6D3"/>
            </a:solidFill>
            <a:prstDash val="solid"/>
          </a:ln>
        </p:spPr>
      </p:sp>
      <p:sp>
        <p:nvSpPr>
          <p:cNvPr id="20" name="Text 18"/>
          <p:cNvSpPr txBox="1"/>
          <p:nvPr/>
        </p:nvSpPr>
        <p:spPr>
          <a:xfrm>
            <a:off x="3447288" y="1828800"/>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Clean</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Cap readings to 40–400 mg/dL; fill sensor gaps up to 30 min</a:t>
            </a:r>
            <a:endParaRPr lang="en-US" sz="1200" dirty="0"/>
          </a:p>
        </p:txBody>
      </p:sp>
      <p:sp>
        <p:nvSpPr>
          <p:cNvPr id="21" name="Shape 19"/>
          <p:cNvSpPr/>
          <p:nvPr/>
        </p:nvSpPr>
        <p:spPr>
          <a:xfrm>
            <a:off x="3337560" y="2606040"/>
            <a:ext cx="2514600" cy="1490472"/>
          </a:xfrm>
          <a:prstGeom prst="roundRect">
            <a:avLst>
              <a:gd name="adj" fmla="val 4908"/>
            </a:avLst>
          </a:prstGeom>
          <a:solidFill>
            <a:srgbClr val="FFFFFF"/>
          </a:solidFill>
          <a:ln w="12700">
            <a:solidFill>
              <a:srgbClr val="C9D6D3"/>
            </a:solidFill>
            <a:prstDash val="solid"/>
          </a:ln>
        </p:spPr>
      </p:sp>
      <p:sp>
        <p:nvSpPr>
          <p:cNvPr id="22" name="Text 20"/>
          <p:cNvSpPr txBox="1"/>
          <p:nvPr/>
        </p:nvSpPr>
        <p:spPr>
          <a:xfrm>
            <a:off x="3447288" y="2679192"/>
            <a:ext cx="2295144" cy="1344168"/>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Build 53 features from past data only</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Wearable 28, EHR 20, twin memory 5 (this patient's own history), time of day. Nothing from the future is ever used.</a:t>
            </a:r>
            <a:endParaRPr lang="en-US" sz="1200" dirty="0"/>
          </a:p>
        </p:txBody>
      </p:sp>
      <p:sp>
        <p:nvSpPr>
          <p:cNvPr id="23" name="Shape 21"/>
          <p:cNvSpPr/>
          <p:nvPr/>
        </p:nvSpPr>
        <p:spPr>
          <a:xfrm>
            <a:off x="3337560" y="4169664"/>
            <a:ext cx="2514600" cy="777240"/>
          </a:xfrm>
          <a:prstGeom prst="roundRect">
            <a:avLst>
              <a:gd name="adj" fmla="val 9412"/>
            </a:avLst>
          </a:prstGeom>
          <a:solidFill>
            <a:srgbClr val="FFFFFF"/>
          </a:solidFill>
          <a:ln w="12700">
            <a:solidFill>
              <a:srgbClr val="C9D6D3"/>
            </a:solidFill>
            <a:prstDash val="solid"/>
          </a:ln>
        </p:spPr>
      </p:sp>
      <p:sp>
        <p:nvSpPr>
          <p:cNvPr id="24" name="Text 22"/>
          <p:cNvSpPr txBox="1"/>
          <p:nvPr/>
        </p:nvSpPr>
        <p:spPr>
          <a:xfrm>
            <a:off x="3447288" y="4242816"/>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Label (training only)</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Did glucose exceed 180 mg/dL in the next 2 hours?</a:t>
            </a:r>
            <a:endParaRPr lang="en-US" sz="1200" dirty="0"/>
          </a:p>
        </p:txBody>
      </p:sp>
      <p:sp>
        <p:nvSpPr>
          <p:cNvPr id="25" name="Shape 23"/>
          <p:cNvSpPr/>
          <p:nvPr/>
        </p:nvSpPr>
        <p:spPr>
          <a:xfrm>
            <a:off x="6217920" y="1755648"/>
            <a:ext cx="2651760" cy="1554480"/>
          </a:xfrm>
          <a:prstGeom prst="roundRect">
            <a:avLst>
              <a:gd name="adj" fmla="val 4706"/>
            </a:avLst>
          </a:prstGeom>
          <a:solidFill>
            <a:srgbClr val="0E6E6B"/>
          </a:solidFill>
          <a:ln w="12700">
            <a:solidFill>
              <a:srgbClr val="0E6E6B"/>
            </a:solidFill>
            <a:prstDash val="solid"/>
          </a:ln>
        </p:spPr>
      </p:sp>
      <p:sp>
        <p:nvSpPr>
          <p:cNvPr id="26" name="Text 24"/>
          <p:cNvSpPr txBox="1"/>
          <p:nvPr/>
        </p:nvSpPr>
        <p:spPr>
          <a:xfrm>
            <a:off x="6327648" y="1828800"/>
            <a:ext cx="2432304" cy="1408176"/>
          </a:xfrm>
          <a:prstGeom prst="rect">
            <a:avLst/>
          </a:prstGeom>
          <a:noFill/>
          <a:ln/>
        </p:spPr>
        <p:txBody>
          <a:bodyPr wrap="square" lIns="0" tIns="0" rIns="0" bIns="0" rtlCol="0" anchor="t"/>
          <a:lstStyle/>
          <a:p>
            <a:pPr indent="0" marL="0">
              <a:spcAft>
                <a:spcPts val="200"/>
              </a:spcAft>
              <a:buNone/>
            </a:pPr>
            <a:r>
              <a:rPr lang="en-US" sz="1200" b="1" dirty="0">
                <a:solidFill>
                  <a:srgbClr val="FFFFFF"/>
                </a:solidFill>
                <a:latin typeface="Calibri" pitchFamily="34" charset="0"/>
                <a:ea typeface="Calibri" pitchFamily="34" charset="-122"/>
                <a:cs typeface="Calibri" pitchFamily="34" charset="-120"/>
              </a:rPr>
              <a:t>Engine 1: Early warning</a:t>
            </a:r>
            <a:endParaRPr lang="en-US" sz="1200" dirty="0"/>
          </a:p>
          <a:p>
            <a:pPr indent="0" marL="0">
              <a:spcAft>
                <a:spcPts val="200"/>
              </a:spcAft>
              <a:buNone/>
            </a:pPr>
            <a:r>
              <a:rPr lang="en-US" sz="1050" dirty="0">
                <a:solidFill>
                  <a:srgbClr val="E4F1EF"/>
                </a:solidFill>
                <a:latin typeface="Calibri" pitchFamily="34" charset="0"/>
                <a:ea typeface="Calibri" pitchFamily="34" charset="-122"/>
                <a:cs typeface="Calibri" pitchFamily="34" charset="-120"/>
              </a:rPr>
              <a:t>LightGBM, 400 trees, trained on 60 patients. Every 15 min: spike risk %, alert at 60% or more. TreeSHAP gives the reasons.</a:t>
            </a:r>
            <a:endParaRPr lang="en-US" sz="1200" dirty="0"/>
          </a:p>
        </p:txBody>
      </p:sp>
      <p:sp>
        <p:nvSpPr>
          <p:cNvPr id="27" name="Shape 25"/>
          <p:cNvSpPr/>
          <p:nvPr/>
        </p:nvSpPr>
        <p:spPr>
          <a:xfrm>
            <a:off x="6217920" y="3392424"/>
            <a:ext cx="2651760" cy="1554480"/>
          </a:xfrm>
          <a:prstGeom prst="roundRect">
            <a:avLst>
              <a:gd name="adj" fmla="val 4706"/>
            </a:avLst>
          </a:prstGeom>
          <a:solidFill>
            <a:srgbClr val="0E6E6B"/>
          </a:solidFill>
          <a:ln w="12700">
            <a:solidFill>
              <a:srgbClr val="0E6E6B"/>
            </a:solidFill>
            <a:prstDash val="solid"/>
          </a:ln>
        </p:spPr>
      </p:sp>
      <p:sp>
        <p:nvSpPr>
          <p:cNvPr id="28" name="Text 26"/>
          <p:cNvSpPr txBox="1"/>
          <p:nvPr/>
        </p:nvSpPr>
        <p:spPr>
          <a:xfrm>
            <a:off x="6327648" y="3465576"/>
            <a:ext cx="2432304" cy="1408176"/>
          </a:xfrm>
          <a:prstGeom prst="rect">
            <a:avLst/>
          </a:prstGeom>
          <a:noFill/>
          <a:ln/>
        </p:spPr>
        <p:txBody>
          <a:bodyPr wrap="square" lIns="0" tIns="0" rIns="0" bIns="0" rtlCol="0" anchor="t"/>
          <a:lstStyle/>
          <a:p>
            <a:pPr indent="0" marL="0">
              <a:spcAft>
                <a:spcPts val="200"/>
              </a:spcAft>
              <a:buNone/>
            </a:pPr>
            <a:r>
              <a:rPr lang="en-US" sz="1200" b="1" dirty="0">
                <a:solidFill>
                  <a:srgbClr val="FFFFFF"/>
                </a:solidFill>
                <a:latin typeface="Calibri" pitchFamily="34" charset="0"/>
                <a:ea typeface="Calibri" pitchFamily="34" charset="-122"/>
                <a:cs typeface="Calibri" pitchFamily="34" charset="-120"/>
              </a:rPr>
              <a:t>Engine 2: What-if simulator</a:t>
            </a:r>
            <a:endParaRPr lang="en-US" sz="1200" dirty="0"/>
          </a:p>
          <a:p>
            <a:pPr indent="0" marL="0">
              <a:spcAft>
                <a:spcPts val="200"/>
              </a:spcAft>
              <a:buNone/>
            </a:pPr>
            <a:r>
              <a:rPr lang="en-US" sz="1050" dirty="0">
                <a:solidFill>
                  <a:srgbClr val="E4F1EF"/>
                </a:solidFill>
                <a:latin typeface="Calibri" pitchFamily="34" charset="0"/>
                <a:ea typeface="Calibri" pitchFamily="34" charset="-122"/>
                <a:cs typeface="Calibri" pitchFamily="34" charset="-120"/>
              </a:rPr>
              <a:t>4 personal parameters (baseline, carb response, clearance, walk effect) refitted to the last 3 days. 3-hour forecast for any meal or walk.</a:t>
            </a:r>
            <a:endParaRPr lang="en-US" sz="1200" dirty="0"/>
          </a:p>
        </p:txBody>
      </p:sp>
      <p:sp>
        <p:nvSpPr>
          <p:cNvPr id="29" name="Shape 27"/>
          <p:cNvSpPr/>
          <p:nvPr/>
        </p:nvSpPr>
        <p:spPr>
          <a:xfrm>
            <a:off x="9235440" y="1755648"/>
            <a:ext cx="2514600" cy="777240"/>
          </a:xfrm>
          <a:prstGeom prst="roundRect">
            <a:avLst>
              <a:gd name="adj" fmla="val 9412"/>
            </a:avLst>
          </a:prstGeom>
          <a:solidFill>
            <a:srgbClr val="FFFFFF"/>
          </a:solidFill>
          <a:ln w="12700">
            <a:solidFill>
              <a:srgbClr val="C9D6D3"/>
            </a:solidFill>
            <a:prstDash val="solid"/>
          </a:ln>
        </p:spPr>
      </p:sp>
      <p:sp>
        <p:nvSpPr>
          <p:cNvPr id="30" name="Text 28"/>
          <p:cNvSpPr txBox="1"/>
          <p:nvPr/>
        </p:nvSpPr>
        <p:spPr>
          <a:xfrm>
            <a:off x="9345168" y="1828800"/>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Ward overview</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All patients ranked by spike risk, like a triage board</a:t>
            </a:r>
            <a:endParaRPr lang="en-US" sz="1200" dirty="0"/>
          </a:p>
        </p:txBody>
      </p:sp>
      <p:sp>
        <p:nvSpPr>
          <p:cNvPr id="31" name="Shape 29"/>
          <p:cNvSpPr/>
          <p:nvPr/>
        </p:nvSpPr>
        <p:spPr>
          <a:xfrm>
            <a:off x="9235440" y="2606040"/>
            <a:ext cx="2514600" cy="1490472"/>
          </a:xfrm>
          <a:prstGeom prst="roundRect">
            <a:avLst>
              <a:gd name="adj" fmla="val 4908"/>
            </a:avLst>
          </a:prstGeom>
          <a:solidFill>
            <a:srgbClr val="FFFFFF"/>
          </a:solidFill>
          <a:ln w="12700">
            <a:solidFill>
              <a:srgbClr val="C9D6D3"/>
            </a:solidFill>
            <a:prstDash val="solid"/>
          </a:ln>
        </p:spPr>
      </p:sp>
      <p:sp>
        <p:nvSpPr>
          <p:cNvPr id="32" name="Text 30"/>
          <p:cNvSpPr txBox="1"/>
          <p:nvPr/>
        </p:nvSpPr>
        <p:spPr>
          <a:xfrm>
            <a:off x="9345168" y="2679192"/>
            <a:ext cx="2295144" cy="1344168"/>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Patient twin</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Record, risk gauge, 24-hour timeline, why the twin thinks so, what-if sliders, reveal what actually happened</a:t>
            </a:r>
            <a:endParaRPr lang="en-US" sz="1200" dirty="0"/>
          </a:p>
        </p:txBody>
      </p:sp>
      <p:sp>
        <p:nvSpPr>
          <p:cNvPr id="33" name="Shape 31"/>
          <p:cNvSpPr/>
          <p:nvPr/>
        </p:nvSpPr>
        <p:spPr>
          <a:xfrm>
            <a:off x="9235440" y="4169664"/>
            <a:ext cx="2514600" cy="777240"/>
          </a:xfrm>
          <a:prstGeom prst="roundRect">
            <a:avLst>
              <a:gd name="adj" fmla="val 9412"/>
            </a:avLst>
          </a:prstGeom>
          <a:solidFill>
            <a:srgbClr val="FFFFFF"/>
          </a:solidFill>
          <a:ln w="12700">
            <a:solidFill>
              <a:srgbClr val="C9D6D3"/>
            </a:solidFill>
            <a:prstDash val="solid"/>
          </a:ln>
        </p:spPr>
      </p:sp>
      <p:sp>
        <p:nvSpPr>
          <p:cNvPr id="34" name="Text 32"/>
          <p:cNvSpPr txBox="1"/>
          <p:nvPr/>
        </p:nvSpPr>
        <p:spPr>
          <a:xfrm>
            <a:off x="9345168" y="4242816"/>
            <a:ext cx="2295144" cy="630936"/>
          </a:xfrm>
          <a:prstGeom prst="rect">
            <a:avLst/>
          </a:prstGeom>
          <a:noFill/>
          <a:ln/>
        </p:spPr>
        <p:txBody>
          <a:bodyPr wrap="square" lIns="0" tIns="0" rIns="0" bIns="0" rtlCol="0" anchor="t"/>
          <a:lstStyle/>
          <a:p>
            <a:pPr indent="0" marL="0">
              <a:spcAft>
                <a:spcPts val="200"/>
              </a:spcAft>
              <a:buNone/>
            </a:pPr>
            <a:r>
              <a:rPr lang="en-US" sz="1200" b="1" dirty="0">
                <a:solidFill>
                  <a:srgbClr val="1F2A30"/>
                </a:solidFill>
                <a:latin typeface="Calibri" pitchFamily="34" charset="0"/>
                <a:ea typeface="Calibri" pitchFamily="34" charset="-122"/>
                <a:cs typeface="Calibri" pitchFamily="34" charset="-120"/>
              </a:rPr>
              <a:t>How well it works</a:t>
            </a:r>
            <a:endParaRPr lang="en-US" sz="1200" dirty="0"/>
          </a:p>
          <a:p>
            <a:pPr indent="0" marL="0">
              <a:spcAft>
                <a:spcPts val="200"/>
              </a:spcAft>
              <a:buNone/>
            </a:pPr>
            <a:r>
              <a:rPr lang="en-US" sz="1050" dirty="0">
                <a:solidFill>
                  <a:srgbClr val="5F6E74"/>
                </a:solidFill>
                <a:latin typeface="Calibri" pitchFamily="34" charset="0"/>
                <a:ea typeface="Calibri" pitchFamily="34" charset="-122"/>
                <a:cs typeface="Calibri" pitchFamily="34" charset="-120"/>
              </a:rPr>
              <a:t>Model comparison and data-source influence</a:t>
            </a:r>
            <a:endParaRPr lang="en-US" sz="1200" dirty="0"/>
          </a:p>
        </p:txBody>
      </p:sp>
      <p:sp>
        <p:nvSpPr>
          <p:cNvPr id="35" name="Shape 33"/>
          <p:cNvSpPr/>
          <p:nvPr/>
        </p:nvSpPr>
        <p:spPr>
          <a:xfrm>
            <a:off x="2971800" y="2990088"/>
            <a:ext cx="338328" cy="361188"/>
          </a:xfrm>
          <a:prstGeom prst="line">
            <a:avLst/>
          </a:prstGeom>
          <a:noFill/>
          <a:ln w="22225">
            <a:solidFill>
              <a:srgbClr val="5F6E74"/>
            </a:solidFill>
            <a:prstDash val="solid"/>
            <a:tailEnd type="triangle"/>
          </a:ln>
        </p:spPr>
      </p:sp>
      <p:sp>
        <p:nvSpPr>
          <p:cNvPr id="36" name="Shape 34"/>
          <p:cNvSpPr/>
          <p:nvPr/>
        </p:nvSpPr>
        <p:spPr>
          <a:xfrm>
            <a:off x="2971800" y="2139696"/>
            <a:ext cx="338328" cy="1211580"/>
          </a:xfrm>
          <a:prstGeom prst="line">
            <a:avLst/>
          </a:prstGeom>
          <a:noFill/>
          <a:ln w="22225">
            <a:solidFill>
              <a:srgbClr val="5F6E74"/>
            </a:solidFill>
            <a:prstDash val="solid"/>
            <a:tailEnd type="triangle"/>
          </a:ln>
        </p:spPr>
      </p:sp>
      <p:sp>
        <p:nvSpPr>
          <p:cNvPr id="37" name="Shape 35"/>
          <p:cNvSpPr/>
          <p:nvPr/>
        </p:nvSpPr>
        <p:spPr>
          <a:xfrm>
            <a:off x="2971800" y="3776472"/>
            <a:ext cx="338328" cy="-425196"/>
          </a:xfrm>
          <a:prstGeom prst="line">
            <a:avLst/>
          </a:prstGeom>
          <a:noFill/>
          <a:ln w="22225">
            <a:solidFill>
              <a:srgbClr val="5F6E74"/>
            </a:solidFill>
            <a:prstDash val="solid"/>
            <a:tailEnd type="triangle"/>
          </a:ln>
        </p:spPr>
      </p:sp>
      <p:sp>
        <p:nvSpPr>
          <p:cNvPr id="38" name="Shape 36"/>
          <p:cNvSpPr/>
          <p:nvPr/>
        </p:nvSpPr>
        <p:spPr>
          <a:xfrm>
            <a:off x="5852160" y="3351276"/>
            <a:ext cx="338328" cy="-818388"/>
          </a:xfrm>
          <a:prstGeom prst="line">
            <a:avLst/>
          </a:prstGeom>
          <a:noFill/>
          <a:ln w="22225">
            <a:solidFill>
              <a:srgbClr val="5F6E74"/>
            </a:solidFill>
            <a:prstDash val="solid"/>
            <a:tailEnd type="triangle"/>
          </a:ln>
        </p:spPr>
      </p:sp>
      <p:sp>
        <p:nvSpPr>
          <p:cNvPr id="39" name="Shape 37"/>
          <p:cNvSpPr/>
          <p:nvPr/>
        </p:nvSpPr>
        <p:spPr>
          <a:xfrm>
            <a:off x="5852160" y="3351276"/>
            <a:ext cx="338328" cy="818388"/>
          </a:xfrm>
          <a:prstGeom prst="line">
            <a:avLst/>
          </a:prstGeom>
          <a:noFill/>
          <a:ln w="22225">
            <a:solidFill>
              <a:srgbClr val="5F6E74"/>
            </a:solidFill>
            <a:prstDash val="solid"/>
            <a:tailEnd type="triangle"/>
          </a:ln>
        </p:spPr>
      </p:sp>
      <p:sp>
        <p:nvSpPr>
          <p:cNvPr id="40" name="Shape 38"/>
          <p:cNvSpPr/>
          <p:nvPr/>
        </p:nvSpPr>
        <p:spPr>
          <a:xfrm>
            <a:off x="8869680" y="2532888"/>
            <a:ext cx="338328" cy="-393192"/>
          </a:xfrm>
          <a:prstGeom prst="line">
            <a:avLst/>
          </a:prstGeom>
          <a:noFill/>
          <a:ln w="22225">
            <a:solidFill>
              <a:srgbClr val="5F6E74"/>
            </a:solidFill>
            <a:prstDash val="solid"/>
            <a:tailEnd type="triangle"/>
          </a:ln>
        </p:spPr>
      </p:sp>
      <p:sp>
        <p:nvSpPr>
          <p:cNvPr id="41" name="Shape 39"/>
          <p:cNvSpPr/>
          <p:nvPr/>
        </p:nvSpPr>
        <p:spPr>
          <a:xfrm>
            <a:off x="8869680" y="2532888"/>
            <a:ext cx="338328" cy="818388"/>
          </a:xfrm>
          <a:prstGeom prst="line">
            <a:avLst/>
          </a:prstGeom>
          <a:noFill/>
          <a:ln w="22225">
            <a:solidFill>
              <a:srgbClr val="5F6E74"/>
            </a:solidFill>
            <a:prstDash val="solid"/>
            <a:tailEnd type="triangle"/>
          </a:ln>
        </p:spPr>
      </p:sp>
      <p:sp>
        <p:nvSpPr>
          <p:cNvPr id="42" name="Shape 40"/>
          <p:cNvSpPr/>
          <p:nvPr/>
        </p:nvSpPr>
        <p:spPr>
          <a:xfrm>
            <a:off x="8869680" y="4169664"/>
            <a:ext cx="338328" cy="-818388"/>
          </a:xfrm>
          <a:prstGeom prst="line">
            <a:avLst/>
          </a:prstGeom>
          <a:noFill/>
          <a:ln w="22225">
            <a:solidFill>
              <a:srgbClr val="5F6E74"/>
            </a:solidFill>
            <a:prstDash val="solid"/>
            <a:tailEnd type="triangle"/>
          </a:ln>
        </p:spPr>
      </p:sp>
      <p:sp>
        <p:nvSpPr>
          <p:cNvPr id="43" name="Shape 41"/>
          <p:cNvSpPr/>
          <p:nvPr/>
        </p:nvSpPr>
        <p:spPr>
          <a:xfrm>
            <a:off x="365760" y="5212080"/>
            <a:ext cx="11475720" cy="731520"/>
          </a:xfrm>
          <a:prstGeom prst="roundRect">
            <a:avLst>
              <a:gd name="adj" fmla="val 12500"/>
            </a:avLst>
          </a:prstGeom>
          <a:solidFill>
            <a:srgbClr val="FFFFFF"/>
          </a:solidFill>
          <a:ln w="12700">
            <a:solidFill>
              <a:srgbClr val="C9D6D3"/>
            </a:solidFill>
            <a:prstDash val="solid"/>
          </a:ln>
        </p:spPr>
      </p:sp>
      <p:sp>
        <p:nvSpPr>
          <p:cNvPr id="44" name="Text 42"/>
          <p:cNvSpPr txBox="1"/>
          <p:nvPr/>
        </p:nvSpPr>
        <p:spPr>
          <a:xfrm>
            <a:off x="548640" y="5285232"/>
            <a:ext cx="11109960" cy="585216"/>
          </a:xfrm>
          <a:prstGeom prst="rect">
            <a:avLst/>
          </a:prstGeom>
          <a:noFill/>
          <a:ln/>
        </p:spPr>
        <p:txBody>
          <a:bodyPr wrap="square" lIns="0" tIns="0" rIns="0" bIns="0" rtlCol="0" anchor="ctr"/>
          <a:lstStyle/>
          <a:p>
            <a:pPr indent="0" marL="0">
              <a:buNone/>
            </a:pPr>
            <a:r>
              <a:rPr lang="en-US" sz="1150" b="1" dirty="0">
                <a:solidFill>
                  <a:srgbClr val="0E6E6B"/>
                </a:solidFill>
                <a:latin typeface="Calibri" pitchFamily="34" charset="0"/>
                <a:ea typeface="Calibri" pitchFamily="34" charset="-122"/>
                <a:cs typeface="Calibri" pitchFamily="34" charset="-120"/>
              </a:rPr>
              <a:t>Evaluation: </a:t>
            </a:r>
            <a:pPr indent="0" marL="0">
              <a:buNone/>
            </a:pPr>
            <a:r>
              <a:rPr lang="en-US" sz="1150" dirty="0">
                <a:solidFill>
                  <a:srgbClr val="1F2A30"/>
                </a:solidFill>
                <a:latin typeface="Calibri" pitchFamily="34" charset="0"/>
                <a:ea typeface="Calibri" pitchFamily="34" charset="-122"/>
                <a:cs typeface="Calibri" pitchFamily="34" charset="-120"/>
              </a:rPr>
              <a:t>split by patient 60 train / 10 validation / 30 test; AUROC, spikes caught, warning time, false alarms per day.   </a:t>
            </a:r>
            <a:pPr indent="0" marL="0">
              <a:buNone/>
            </a:pPr>
            <a:r>
              <a:rPr lang="en-US" sz="1150" b="1" dirty="0">
                <a:solidFill>
                  <a:srgbClr val="0E6E6B"/>
                </a:solidFill>
                <a:latin typeface="Calibri" pitchFamily="34" charset="0"/>
                <a:ea typeface="Calibri" pitchFamily="34" charset="-122"/>
                <a:cs typeface="Calibri" pitchFamily="34" charset="-120"/>
              </a:rPr>
              <a:t>Deployment: </a:t>
            </a:r>
            <a:pPr indent="0" marL="0">
              <a:buNone/>
            </a:pPr>
            <a:r>
              <a:rPr lang="en-US" sz="1150" dirty="0">
                <a:solidFill>
                  <a:srgbClr val="1F2A30"/>
                </a:solidFill>
                <a:latin typeface="Calibri" pitchFamily="34" charset="0"/>
                <a:ea typeface="Calibri" pitchFamily="34" charset="-122"/>
                <a:cs typeface="Calibri" pitchFamily="34" charset="-120"/>
              </a:rPr>
              <a:t>Colab notebooks (seeded, reproducible) → GitHub → Streamlit Community Cloud. Synthetic data only (DPDP Act, HIPAA).</a:t>
            </a:r>
            <a:endParaRPr lang="en-US" sz="1150" dirty="0"/>
          </a:p>
        </p:txBody>
      </p:sp>
      <p:sp>
        <p:nvSpPr>
          <p:cNvPr id="45" name="Text 43"/>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46" name="Text 44"/>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Engine 1: early warning, tested honestly</a:t>
            </a:r>
            <a:endParaRPr lang="en-US" sz="3200" dirty="0"/>
          </a:p>
        </p:txBody>
      </p:sp>
      <p:sp>
        <p:nvSpPr>
          <p:cNvPr id="3" name="Shape 1"/>
          <p:cNvSpPr/>
          <p:nvPr/>
        </p:nvSpPr>
        <p:spPr>
          <a:xfrm>
            <a:off x="548640" y="1463040"/>
            <a:ext cx="2880360" cy="2148840"/>
          </a:xfrm>
          <a:prstGeom prst="roundRect">
            <a:avLst>
              <a:gd name="adj" fmla="val 5106"/>
            </a:avLst>
          </a:prstGeom>
          <a:solidFill>
            <a:srgbClr val="F3F6F5"/>
          </a:solidFill>
          <a:ln w="12700">
            <a:solidFill>
              <a:srgbClr val="F3F6F5"/>
            </a:solidFill>
            <a:prstDash val="solid"/>
          </a:ln>
        </p:spPr>
      </p:sp>
      <p:sp>
        <p:nvSpPr>
          <p:cNvPr id="4" name="Text 2"/>
          <p:cNvSpPr txBox="1"/>
          <p:nvPr/>
        </p:nvSpPr>
        <p:spPr>
          <a:xfrm>
            <a:off x="777240" y="1645920"/>
            <a:ext cx="2468880" cy="640080"/>
          </a:xfrm>
          <a:prstGeom prst="rect">
            <a:avLst/>
          </a:prstGeom>
          <a:noFill/>
          <a:ln/>
        </p:spPr>
        <p:txBody>
          <a:bodyPr wrap="square" lIns="0" tIns="0" rIns="0" bIns="0" rtlCol="0" anchor="ctr"/>
          <a:lstStyle/>
          <a:p>
            <a:pPr indent="0" marL="0">
              <a:buNone/>
            </a:pPr>
            <a:r>
              <a:rPr lang="en-US" sz="3600" b="1" dirty="0">
                <a:solidFill>
                  <a:srgbClr val="0E6E6B"/>
                </a:solidFill>
                <a:latin typeface="Cambria" pitchFamily="34" charset="0"/>
                <a:ea typeface="Cambria" pitchFamily="34" charset="-122"/>
                <a:cs typeface="Cambria" pitchFamily="34" charset="-120"/>
              </a:rPr>
              <a:t>28</a:t>
            </a:r>
            <a:endParaRPr lang="en-US" sz="3600" dirty="0"/>
          </a:p>
        </p:txBody>
      </p:sp>
      <p:sp>
        <p:nvSpPr>
          <p:cNvPr id="5" name="Text 3"/>
          <p:cNvSpPr txBox="1"/>
          <p:nvPr/>
        </p:nvSpPr>
        <p:spPr>
          <a:xfrm>
            <a:off x="777240" y="2331720"/>
            <a:ext cx="2468880"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Wearable clues</a:t>
            </a:r>
            <a:endParaRPr lang="en-US" sz="1500" dirty="0"/>
          </a:p>
        </p:txBody>
      </p:sp>
      <p:sp>
        <p:nvSpPr>
          <p:cNvPr id="6" name="Text 4"/>
          <p:cNvSpPr txBox="1"/>
          <p:nvPr/>
        </p:nvSpPr>
        <p:spPr>
          <a:xfrm>
            <a:off x="777240" y="2670048"/>
            <a:ext cx="2468880" cy="868680"/>
          </a:xfrm>
          <a:prstGeom prst="rect">
            <a:avLst/>
          </a:prstGeom>
          <a:noFill/>
          <a:ln/>
        </p:spPr>
        <p:txBody>
          <a:bodyPr wrap="square" lIns="0" tIns="0" rIns="0" bIns="0" rtlCol="0" anchor="t"/>
          <a:lstStyle/>
          <a:p>
            <a:pPr indent="0" marL="0">
              <a:buNone/>
            </a:pPr>
            <a:r>
              <a:rPr lang="en-US" sz="1200" dirty="0">
                <a:solidFill>
                  <a:srgbClr val="5F6E74"/>
                </a:solidFill>
                <a:latin typeface="Calibri" pitchFamily="34" charset="0"/>
                <a:ea typeface="Calibri" pitchFamily="34" charset="-122"/>
                <a:cs typeface="Calibri" pitchFamily="34" charset="-120"/>
              </a:rPr>
              <a:t>Glucose now and its trend, recent carbs, steps, heart rate, last night's sleep and HRV</a:t>
            </a:r>
            <a:endParaRPr lang="en-US" sz="1200" dirty="0"/>
          </a:p>
        </p:txBody>
      </p:sp>
      <p:sp>
        <p:nvSpPr>
          <p:cNvPr id="7" name="Shape 5"/>
          <p:cNvSpPr/>
          <p:nvPr/>
        </p:nvSpPr>
        <p:spPr>
          <a:xfrm>
            <a:off x="3611880" y="1463040"/>
            <a:ext cx="2880360" cy="2148840"/>
          </a:xfrm>
          <a:prstGeom prst="roundRect">
            <a:avLst>
              <a:gd name="adj" fmla="val 5106"/>
            </a:avLst>
          </a:prstGeom>
          <a:solidFill>
            <a:srgbClr val="F3F6F5"/>
          </a:solidFill>
          <a:ln w="12700">
            <a:solidFill>
              <a:srgbClr val="F3F6F5"/>
            </a:solidFill>
            <a:prstDash val="solid"/>
          </a:ln>
        </p:spPr>
      </p:sp>
      <p:sp>
        <p:nvSpPr>
          <p:cNvPr id="8" name="Text 6"/>
          <p:cNvSpPr txBox="1"/>
          <p:nvPr/>
        </p:nvSpPr>
        <p:spPr>
          <a:xfrm>
            <a:off x="3840480" y="1645920"/>
            <a:ext cx="2468880" cy="640080"/>
          </a:xfrm>
          <a:prstGeom prst="rect">
            <a:avLst/>
          </a:prstGeom>
          <a:noFill/>
          <a:ln/>
        </p:spPr>
        <p:txBody>
          <a:bodyPr wrap="square" lIns="0" tIns="0" rIns="0" bIns="0" rtlCol="0" anchor="ctr"/>
          <a:lstStyle/>
          <a:p>
            <a:pPr indent="0" marL="0">
              <a:buNone/>
            </a:pPr>
            <a:r>
              <a:rPr lang="en-US" sz="3600" b="1" dirty="0">
                <a:solidFill>
                  <a:srgbClr val="0E6E6B"/>
                </a:solidFill>
                <a:latin typeface="Cambria" pitchFamily="34" charset="0"/>
                <a:ea typeface="Cambria" pitchFamily="34" charset="-122"/>
                <a:cs typeface="Cambria" pitchFamily="34" charset="-120"/>
              </a:rPr>
              <a:t>20</a:t>
            </a:r>
            <a:endParaRPr lang="en-US" sz="3600" dirty="0"/>
          </a:p>
        </p:txBody>
      </p:sp>
      <p:sp>
        <p:nvSpPr>
          <p:cNvPr id="9" name="Text 7"/>
          <p:cNvSpPr txBox="1"/>
          <p:nvPr/>
        </p:nvSpPr>
        <p:spPr>
          <a:xfrm>
            <a:off x="3840480" y="2331720"/>
            <a:ext cx="2468880"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Health record</a:t>
            </a:r>
            <a:endParaRPr lang="en-US" sz="1500" dirty="0"/>
          </a:p>
        </p:txBody>
      </p:sp>
      <p:sp>
        <p:nvSpPr>
          <p:cNvPr id="10" name="Text 8"/>
          <p:cNvSpPr txBox="1"/>
          <p:nvPr/>
        </p:nvSpPr>
        <p:spPr>
          <a:xfrm>
            <a:off x="3840480" y="2670048"/>
            <a:ext cx="2468880" cy="868680"/>
          </a:xfrm>
          <a:prstGeom prst="rect">
            <a:avLst/>
          </a:prstGeom>
          <a:noFill/>
          <a:ln/>
        </p:spPr>
        <p:txBody>
          <a:bodyPr wrap="square" lIns="0" tIns="0" rIns="0" bIns="0" rtlCol="0" anchor="t"/>
          <a:lstStyle/>
          <a:p>
            <a:pPr indent="0" marL="0">
              <a:buNone/>
            </a:pPr>
            <a:r>
              <a:rPr lang="en-US" sz="1200" dirty="0">
                <a:solidFill>
                  <a:srgbClr val="5F6E74"/>
                </a:solidFill>
                <a:latin typeface="Calibri" pitchFamily="34" charset="0"/>
                <a:ea typeface="Calibri" pitchFamily="34" charset="-122"/>
                <a:cs typeface="Calibri" pitchFamily="34" charset="-120"/>
              </a:rPr>
              <a:t>HbA1c, BMI, medication, blood pressure, lipids, kidney function, genetics</a:t>
            </a:r>
            <a:endParaRPr lang="en-US" sz="1200" dirty="0"/>
          </a:p>
        </p:txBody>
      </p:sp>
      <p:sp>
        <p:nvSpPr>
          <p:cNvPr id="11" name="Shape 9"/>
          <p:cNvSpPr/>
          <p:nvPr/>
        </p:nvSpPr>
        <p:spPr>
          <a:xfrm>
            <a:off x="548640" y="3794760"/>
            <a:ext cx="2880360" cy="2148840"/>
          </a:xfrm>
          <a:prstGeom prst="roundRect">
            <a:avLst>
              <a:gd name="adj" fmla="val 5106"/>
            </a:avLst>
          </a:prstGeom>
          <a:solidFill>
            <a:srgbClr val="F3F6F5"/>
          </a:solidFill>
          <a:ln w="12700">
            <a:solidFill>
              <a:srgbClr val="F3F6F5"/>
            </a:solidFill>
            <a:prstDash val="solid"/>
          </a:ln>
        </p:spPr>
      </p:sp>
      <p:sp>
        <p:nvSpPr>
          <p:cNvPr id="12" name="Text 10"/>
          <p:cNvSpPr txBox="1"/>
          <p:nvPr/>
        </p:nvSpPr>
        <p:spPr>
          <a:xfrm>
            <a:off x="777240" y="3977640"/>
            <a:ext cx="2468880" cy="640080"/>
          </a:xfrm>
          <a:prstGeom prst="rect">
            <a:avLst/>
          </a:prstGeom>
          <a:noFill/>
          <a:ln/>
        </p:spPr>
        <p:txBody>
          <a:bodyPr wrap="square" lIns="0" tIns="0" rIns="0" bIns="0" rtlCol="0" anchor="ctr"/>
          <a:lstStyle/>
          <a:p>
            <a:pPr indent="0" marL="0">
              <a:buNone/>
            </a:pPr>
            <a:r>
              <a:rPr lang="en-US" sz="3600" b="1" dirty="0">
                <a:solidFill>
                  <a:srgbClr val="0E6E6B"/>
                </a:solidFill>
                <a:latin typeface="Cambria" pitchFamily="34" charset="0"/>
                <a:ea typeface="Cambria" pitchFamily="34" charset="-122"/>
                <a:cs typeface="Cambria" pitchFamily="34" charset="-120"/>
              </a:rPr>
              <a:t>5</a:t>
            </a:r>
            <a:endParaRPr lang="en-US" sz="3600" dirty="0"/>
          </a:p>
        </p:txBody>
      </p:sp>
      <p:sp>
        <p:nvSpPr>
          <p:cNvPr id="13" name="Text 11"/>
          <p:cNvSpPr txBox="1"/>
          <p:nvPr/>
        </p:nvSpPr>
        <p:spPr>
          <a:xfrm>
            <a:off x="777240" y="4663440"/>
            <a:ext cx="2468880"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Twin memory</a:t>
            </a:r>
            <a:endParaRPr lang="en-US" sz="1500" dirty="0"/>
          </a:p>
        </p:txBody>
      </p:sp>
      <p:sp>
        <p:nvSpPr>
          <p:cNvPr id="14" name="Text 12"/>
          <p:cNvSpPr txBox="1"/>
          <p:nvPr/>
        </p:nvSpPr>
        <p:spPr>
          <a:xfrm>
            <a:off x="777240" y="5001768"/>
            <a:ext cx="2468880" cy="868680"/>
          </a:xfrm>
          <a:prstGeom prst="rect">
            <a:avLst/>
          </a:prstGeom>
          <a:noFill/>
          <a:ln/>
        </p:spPr>
        <p:txBody>
          <a:bodyPr wrap="square" lIns="0" tIns="0" rIns="0" bIns="0" rtlCol="0" anchor="t"/>
          <a:lstStyle/>
          <a:p>
            <a:pPr indent="0" marL="0">
              <a:buNone/>
            </a:pPr>
            <a:r>
              <a:rPr lang="en-US" sz="1200" dirty="0">
                <a:solidFill>
                  <a:srgbClr val="5F6E74"/>
                </a:solidFill>
                <a:latin typeface="Calibri" pitchFamily="34" charset="0"/>
                <a:ea typeface="Calibri" pitchFamily="34" charset="-122"/>
                <a:cs typeface="Calibri" pitchFamily="34" charset="-120"/>
              </a:rPr>
              <a:t>How much this patient's glucose usually rises per gram of carbs, learned from their own past</a:t>
            </a:r>
            <a:endParaRPr lang="en-US" sz="1200" dirty="0"/>
          </a:p>
        </p:txBody>
      </p:sp>
      <p:sp>
        <p:nvSpPr>
          <p:cNvPr id="15" name="Shape 13"/>
          <p:cNvSpPr/>
          <p:nvPr/>
        </p:nvSpPr>
        <p:spPr>
          <a:xfrm>
            <a:off x="3611880" y="3794760"/>
            <a:ext cx="2880360" cy="2148840"/>
          </a:xfrm>
          <a:prstGeom prst="roundRect">
            <a:avLst>
              <a:gd name="adj" fmla="val 5106"/>
            </a:avLst>
          </a:prstGeom>
          <a:solidFill>
            <a:srgbClr val="0E6E6B"/>
          </a:solidFill>
          <a:ln w="12700">
            <a:solidFill>
              <a:srgbClr val="0E6E6B"/>
            </a:solidFill>
            <a:prstDash val="solid"/>
          </a:ln>
        </p:spPr>
      </p:sp>
      <p:sp>
        <p:nvSpPr>
          <p:cNvPr id="16" name="Text 14"/>
          <p:cNvSpPr txBox="1"/>
          <p:nvPr/>
        </p:nvSpPr>
        <p:spPr>
          <a:xfrm>
            <a:off x="3840480" y="3977640"/>
            <a:ext cx="246888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LightGBM</a:t>
            </a:r>
            <a:endParaRPr lang="en-US" sz="2600" dirty="0"/>
          </a:p>
        </p:txBody>
      </p:sp>
      <p:sp>
        <p:nvSpPr>
          <p:cNvPr id="17" name="Text 15"/>
          <p:cNvSpPr txBox="1"/>
          <p:nvPr/>
        </p:nvSpPr>
        <p:spPr>
          <a:xfrm>
            <a:off x="3840480" y="4663440"/>
            <a:ext cx="24688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p>
        </p:txBody>
      </p:sp>
      <p:sp>
        <p:nvSpPr>
          <p:cNvPr id="18" name="Text 16"/>
          <p:cNvSpPr txBox="1"/>
          <p:nvPr/>
        </p:nvSpPr>
        <p:spPr>
          <a:xfrm>
            <a:off x="3840480" y="5001768"/>
            <a:ext cx="2468880" cy="868680"/>
          </a:xfrm>
          <a:prstGeom prst="rect">
            <a:avLst/>
          </a:prstGeom>
          <a:noFill/>
          <a:ln/>
        </p:spPr>
        <p:txBody>
          <a:bodyPr wrap="square" lIns="0" tIns="0" rIns="0" bIns="0" rtlCol="0" anchor="t"/>
          <a:lstStyle/>
          <a:p>
            <a:pPr indent="0" marL="0">
              <a:buNone/>
            </a:pPr>
            <a:r>
              <a:rPr lang="en-US" sz="1200" dirty="0">
                <a:solidFill>
                  <a:srgbClr val="E4F1EF"/>
                </a:solidFill>
                <a:latin typeface="Calibri" pitchFamily="34" charset="0"/>
                <a:ea typeface="Calibri" pitchFamily="34" charset="-122"/>
                <a:cs typeface="Calibri" pitchFamily="34" charset="-120"/>
              </a:rPr>
              <a:t>400 decision trees; TreeSHAP explains every single prediction</a:t>
            </a:r>
            <a:endParaRPr lang="en-US" sz="1200" dirty="0"/>
          </a:p>
        </p:txBody>
      </p:sp>
      <p:sp>
        <p:nvSpPr>
          <p:cNvPr id="19" name="Shape 17"/>
          <p:cNvSpPr/>
          <p:nvPr/>
        </p:nvSpPr>
        <p:spPr>
          <a:xfrm>
            <a:off x="6903720" y="1554480"/>
            <a:ext cx="640080" cy="640080"/>
          </a:xfrm>
          <a:prstGeom prst="ellipse">
            <a:avLst/>
          </a:prstGeom>
          <a:solidFill>
            <a:srgbClr val="0E6E6B"/>
          </a:solidFill>
          <a:ln w="12700">
            <a:solidFill>
              <a:srgbClr val="0E6E6B"/>
            </a:solidFill>
            <a:prstDash val="solid"/>
          </a:ln>
        </p:spPr>
      </p:sp>
      <p:pic>
        <p:nvPicPr>
          <p:cNvPr id="20" name="Image 0" descr="preencoded.png">    </p:cNvPr>
          <p:cNvPicPr>
            <a:picLocks noChangeAspect="1"/>
          </p:cNvPicPr>
          <p:nvPr/>
        </p:nvPicPr>
        <p:blipFill>
          <a:blip r:embed="rId1"/>
          <a:stretch>
            <a:fillRect/>
          </a:stretch>
        </p:blipFill>
        <p:spPr>
          <a:xfrm>
            <a:off x="7070141" y="1720901"/>
            <a:ext cx="307238" cy="307238"/>
          </a:xfrm>
          <a:prstGeom prst="rect">
            <a:avLst/>
          </a:prstGeom>
        </p:spPr>
      </p:pic>
      <p:sp>
        <p:nvSpPr>
          <p:cNvPr id="21" name="Text 18"/>
          <p:cNvSpPr txBox="1"/>
          <p:nvPr/>
        </p:nvSpPr>
        <p:spPr>
          <a:xfrm>
            <a:off x="7726680" y="1554480"/>
            <a:ext cx="39319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Tested on 30 patients it never saw</a:t>
            </a:r>
            <a:endParaRPr lang="en-US" sz="1600" dirty="0"/>
          </a:p>
        </p:txBody>
      </p:sp>
      <p:sp>
        <p:nvSpPr>
          <p:cNvPr id="22" name="Text 19"/>
          <p:cNvSpPr txBox="1"/>
          <p:nvPr/>
        </p:nvSpPr>
        <p:spPr>
          <a:xfrm>
            <a:off x="7726680" y="1938528"/>
            <a:ext cx="3931920" cy="73152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Split by person: 60 train, 10 to set the alert level, 30 test.</a:t>
            </a:r>
            <a:endParaRPr lang="en-US" sz="1300" dirty="0"/>
          </a:p>
        </p:txBody>
      </p:sp>
      <p:sp>
        <p:nvSpPr>
          <p:cNvPr id="23" name="Shape 20"/>
          <p:cNvSpPr/>
          <p:nvPr/>
        </p:nvSpPr>
        <p:spPr>
          <a:xfrm>
            <a:off x="6903720" y="3017520"/>
            <a:ext cx="640080" cy="640080"/>
          </a:xfrm>
          <a:prstGeom prst="ellipse">
            <a:avLst/>
          </a:prstGeom>
          <a:solidFill>
            <a:srgbClr val="0E6E6B"/>
          </a:solidFill>
          <a:ln w="12700">
            <a:solidFill>
              <a:srgbClr val="0E6E6B"/>
            </a:solidFill>
            <a:prstDash val="solid"/>
          </a:ln>
        </p:spPr>
      </p:sp>
      <p:pic>
        <p:nvPicPr>
          <p:cNvPr id="24" name="Image 1" descr="preencoded.png">    </p:cNvPr>
          <p:cNvPicPr>
            <a:picLocks noChangeAspect="1"/>
          </p:cNvPicPr>
          <p:nvPr/>
        </p:nvPicPr>
        <p:blipFill>
          <a:blip r:embed="rId2"/>
          <a:stretch>
            <a:fillRect/>
          </a:stretch>
        </p:blipFill>
        <p:spPr>
          <a:xfrm>
            <a:off x="7070141" y="3183941"/>
            <a:ext cx="307238" cy="307238"/>
          </a:xfrm>
          <a:prstGeom prst="rect">
            <a:avLst/>
          </a:prstGeom>
        </p:spPr>
      </p:pic>
      <p:sp>
        <p:nvSpPr>
          <p:cNvPr id="25" name="Text 21"/>
          <p:cNvSpPr txBox="1"/>
          <p:nvPr/>
        </p:nvSpPr>
        <p:spPr>
          <a:xfrm>
            <a:off x="7726680" y="3017520"/>
            <a:ext cx="39319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No peeking at the future</a:t>
            </a:r>
            <a:endParaRPr lang="en-US" sz="1600" dirty="0"/>
          </a:p>
        </p:txBody>
      </p:sp>
      <p:sp>
        <p:nvSpPr>
          <p:cNvPr id="26" name="Text 22"/>
          <p:cNvSpPr txBox="1"/>
          <p:nvPr/>
        </p:nvSpPr>
        <p:spPr>
          <a:xfrm>
            <a:off x="7726680" y="3401568"/>
            <a:ext cx="3931920" cy="73152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Only data available at that moment; today's total steps are never used.</a:t>
            </a:r>
            <a:endParaRPr lang="en-US" sz="1300" dirty="0"/>
          </a:p>
        </p:txBody>
      </p:sp>
      <p:sp>
        <p:nvSpPr>
          <p:cNvPr id="27" name="Shape 23"/>
          <p:cNvSpPr/>
          <p:nvPr/>
        </p:nvSpPr>
        <p:spPr>
          <a:xfrm>
            <a:off x="6903720" y="4480560"/>
            <a:ext cx="640080" cy="640080"/>
          </a:xfrm>
          <a:prstGeom prst="ellipse">
            <a:avLst/>
          </a:prstGeom>
          <a:solidFill>
            <a:srgbClr val="0E6E6B"/>
          </a:solidFill>
          <a:ln w="12700">
            <a:solidFill>
              <a:srgbClr val="0E6E6B"/>
            </a:solidFill>
            <a:prstDash val="solid"/>
          </a:ln>
        </p:spPr>
      </p:sp>
      <p:pic>
        <p:nvPicPr>
          <p:cNvPr id="28" name="Image 2" descr="preencoded.png">    </p:cNvPr>
          <p:cNvPicPr>
            <a:picLocks noChangeAspect="1"/>
          </p:cNvPicPr>
          <p:nvPr/>
        </p:nvPicPr>
        <p:blipFill>
          <a:blip r:embed="rId3"/>
          <a:stretch>
            <a:fillRect/>
          </a:stretch>
        </p:blipFill>
        <p:spPr>
          <a:xfrm>
            <a:off x="7070141" y="4646981"/>
            <a:ext cx="307238" cy="307238"/>
          </a:xfrm>
          <a:prstGeom prst="rect">
            <a:avLst/>
          </a:prstGeom>
        </p:spPr>
      </p:pic>
      <p:sp>
        <p:nvSpPr>
          <p:cNvPr id="29" name="Text 24"/>
          <p:cNvSpPr txBox="1"/>
          <p:nvPr/>
        </p:nvSpPr>
        <p:spPr>
          <a:xfrm>
            <a:off x="7726680" y="4480560"/>
            <a:ext cx="39319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Warns before, not after</a:t>
            </a:r>
            <a:endParaRPr lang="en-US" sz="1600" dirty="0"/>
          </a:p>
        </p:txBody>
      </p:sp>
      <p:sp>
        <p:nvSpPr>
          <p:cNvPr id="30" name="Text 25"/>
          <p:cNvSpPr txBox="1"/>
          <p:nvPr/>
        </p:nvSpPr>
        <p:spPr>
          <a:xfrm>
            <a:off x="7726680" y="4864608"/>
            <a:ext cx="3931920" cy="73152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No predictions while glucose is already above 180.</a:t>
            </a:r>
            <a:endParaRPr lang="en-US" sz="1300" dirty="0"/>
          </a:p>
        </p:txBody>
      </p:sp>
      <p:sp>
        <p:nvSpPr>
          <p:cNvPr id="31" name="Text 26"/>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32" name="Text 27"/>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Fusing both streams beats either one alone</a:t>
            </a:r>
            <a:endParaRPr lang="en-US" sz="32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AUROC on 30 unseen patients (0.5 = coin toss, 1.0 = perfect)</a:t>
            </a:r>
            <a:endParaRPr lang="en-US" sz="1600" dirty="0"/>
          </a:p>
        </p:txBody>
      </p:sp>
      <p:graphicFrame>
        <p:nvGraphicFramePr>
          <p:cNvPr id="4" name="Chart 0" descr=""/>
          <p:cNvGraphicFramePr/>
          <p:nvPr/>
        </p:nvGraphicFramePr>
        <p:xfrm>
          <a:off x="457200" y="164592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589520" y="1691640"/>
            <a:ext cx="4023360" cy="777240"/>
          </a:xfrm>
          <a:prstGeom prst="rect">
            <a:avLst/>
          </a:prstGeom>
          <a:noFill/>
          <a:ln/>
        </p:spPr>
        <p:txBody>
          <a:bodyPr wrap="square" lIns="0" tIns="0" rIns="0" bIns="0" rtlCol="0" anchor="t"/>
          <a:lstStyle/>
          <a:p>
            <a:pPr indent="0" marL="0">
              <a:buNone/>
            </a:pPr>
            <a:r>
              <a:rPr lang="en-US" sz="4400" b="1" dirty="0">
                <a:solidFill>
                  <a:srgbClr val="0E6E6B"/>
                </a:solidFill>
                <a:latin typeface="Cambria" pitchFamily="34" charset="0"/>
                <a:ea typeface="Cambria" pitchFamily="34" charset="-122"/>
                <a:cs typeface="Cambria" pitchFamily="34" charset="-120"/>
              </a:rPr>
              <a:t>97%</a:t>
            </a:r>
            <a:endParaRPr lang="en-US" sz="4400" dirty="0"/>
          </a:p>
        </p:txBody>
      </p:sp>
      <p:sp>
        <p:nvSpPr>
          <p:cNvPr id="6" name="Text 3"/>
          <p:cNvSpPr txBox="1"/>
          <p:nvPr/>
        </p:nvSpPr>
        <p:spPr>
          <a:xfrm>
            <a:off x="7589520" y="2468880"/>
            <a:ext cx="4023360" cy="457200"/>
          </a:xfrm>
          <a:prstGeom prst="rect">
            <a:avLst/>
          </a:prstGeom>
          <a:noFill/>
          <a:ln/>
        </p:spPr>
        <p:txBody>
          <a:bodyPr wrap="square" lIns="0" tIns="0" rIns="0" bIns="0" rtlCol="0" anchor="t"/>
          <a:lstStyle/>
          <a:p>
            <a:pPr indent="0" marL="0">
              <a:buNone/>
            </a:pPr>
            <a:r>
              <a:rPr lang="en-US" sz="1500" dirty="0">
                <a:solidFill>
                  <a:srgbClr val="5F6E74"/>
                </a:solidFill>
                <a:latin typeface="Calibri" pitchFamily="34" charset="0"/>
                <a:ea typeface="Calibri" pitchFamily="34" charset="-122"/>
                <a:cs typeface="Calibri" pitchFamily="34" charset="-120"/>
              </a:rPr>
              <a:t>of spikes flagged in advance</a:t>
            </a:r>
            <a:endParaRPr lang="en-US" sz="1500" dirty="0"/>
          </a:p>
        </p:txBody>
      </p:sp>
      <p:sp>
        <p:nvSpPr>
          <p:cNvPr id="7" name="Text 4"/>
          <p:cNvSpPr txBox="1"/>
          <p:nvPr/>
        </p:nvSpPr>
        <p:spPr>
          <a:xfrm>
            <a:off x="7589520" y="3200400"/>
            <a:ext cx="4023360" cy="777240"/>
          </a:xfrm>
          <a:prstGeom prst="rect">
            <a:avLst/>
          </a:prstGeom>
          <a:noFill/>
          <a:ln/>
        </p:spPr>
        <p:txBody>
          <a:bodyPr wrap="square" lIns="0" tIns="0" rIns="0" bIns="0" rtlCol="0" anchor="t"/>
          <a:lstStyle/>
          <a:p>
            <a:pPr indent="0" marL="0">
              <a:buNone/>
            </a:pPr>
            <a:r>
              <a:rPr lang="en-US" sz="4400" b="1" dirty="0">
                <a:solidFill>
                  <a:srgbClr val="0E6E6B"/>
                </a:solidFill>
                <a:latin typeface="Cambria" pitchFamily="34" charset="0"/>
                <a:ea typeface="Cambria" pitchFamily="34" charset="-122"/>
                <a:cs typeface="Cambria" pitchFamily="34" charset="-120"/>
              </a:rPr>
              <a:t>~95 min</a:t>
            </a:r>
            <a:endParaRPr lang="en-US" sz="4400" dirty="0"/>
          </a:p>
        </p:txBody>
      </p:sp>
      <p:sp>
        <p:nvSpPr>
          <p:cNvPr id="8" name="Text 5"/>
          <p:cNvSpPr txBox="1"/>
          <p:nvPr/>
        </p:nvSpPr>
        <p:spPr>
          <a:xfrm>
            <a:off x="7589520" y="3977640"/>
            <a:ext cx="4023360" cy="457200"/>
          </a:xfrm>
          <a:prstGeom prst="rect">
            <a:avLst/>
          </a:prstGeom>
          <a:noFill/>
          <a:ln/>
        </p:spPr>
        <p:txBody>
          <a:bodyPr wrap="square" lIns="0" tIns="0" rIns="0" bIns="0" rtlCol="0" anchor="t"/>
          <a:lstStyle/>
          <a:p>
            <a:pPr indent="0" marL="0">
              <a:buNone/>
            </a:pPr>
            <a:r>
              <a:rPr lang="en-US" sz="1500" dirty="0">
                <a:solidFill>
                  <a:srgbClr val="5F6E74"/>
                </a:solidFill>
                <a:latin typeface="Calibri" pitchFamily="34" charset="0"/>
                <a:ea typeface="Calibri" pitchFamily="34" charset="-122"/>
                <a:cs typeface="Calibri" pitchFamily="34" charset="-120"/>
              </a:rPr>
              <a:t>median warning before glucose crosses 180</a:t>
            </a:r>
            <a:endParaRPr lang="en-US" sz="1500" dirty="0"/>
          </a:p>
        </p:txBody>
      </p:sp>
      <p:sp>
        <p:nvSpPr>
          <p:cNvPr id="9" name="Text 6"/>
          <p:cNvSpPr txBox="1"/>
          <p:nvPr/>
        </p:nvSpPr>
        <p:spPr>
          <a:xfrm>
            <a:off x="7589520" y="4709160"/>
            <a:ext cx="4023360" cy="777240"/>
          </a:xfrm>
          <a:prstGeom prst="rect">
            <a:avLst/>
          </a:prstGeom>
          <a:noFill/>
          <a:ln/>
        </p:spPr>
        <p:txBody>
          <a:bodyPr wrap="square" lIns="0" tIns="0" rIns="0" bIns="0" rtlCol="0" anchor="t"/>
          <a:lstStyle/>
          <a:p>
            <a:pPr indent="0" marL="0">
              <a:buNone/>
            </a:pPr>
            <a:r>
              <a:rPr lang="en-US" sz="4400" b="1" dirty="0">
                <a:solidFill>
                  <a:srgbClr val="0E6E6B"/>
                </a:solidFill>
                <a:latin typeface="Cambria" pitchFamily="34" charset="0"/>
                <a:ea typeface="Cambria" pitchFamily="34" charset="-122"/>
                <a:cs typeface="Cambria" pitchFamily="34" charset="-120"/>
              </a:rPr>
              <a:t>0.7</a:t>
            </a:r>
            <a:endParaRPr lang="en-US" sz="4400" dirty="0"/>
          </a:p>
        </p:txBody>
      </p:sp>
      <p:sp>
        <p:nvSpPr>
          <p:cNvPr id="10" name="Text 7"/>
          <p:cNvSpPr txBox="1"/>
          <p:nvPr/>
        </p:nvSpPr>
        <p:spPr>
          <a:xfrm>
            <a:off x="7589520" y="5486400"/>
            <a:ext cx="4023360" cy="457200"/>
          </a:xfrm>
          <a:prstGeom prst="rect">
            <a:avLst/>
          </a:prstGeom>
          <a:noFill/>
          <a:ln/>
        </p:spPr>
        <p:txBody>
          <a:bodyPr wrap="square" lIns="0" tIns="0" rIns="0" bIns="0" rtlCol="0" anchor="t"/>
          <a:lstStyle/>
          <a:p>
            <a:pPr indent="0" marL="0">
              <a:buNone/>
            </a:pPr>
            <a:r>
              <a:rPr lang="en-US" sz="1500" dirty="0">
                <a:solidFill>
                  <a:srgbClr val="5F6E74"/>
                </a:solidFill>
                <a:latin typeface="Calibri" pitchFamily="34" charset="0"/>
                <a:ea typeface="Calibri" pitchFamily="34" charset="-122"/>
                <a:cs typeface="Calibri" pitchFamily="34" charset="-120"/>
              </a:rPr>
              <a:t>false alarms per patient per day</a:t>
            </a:r>
            <a:endParaRPr lang="en-US" sz="1500" dirty="0"/>
          </a:p>
        </p:txBody>
      </p:sp>
      <p:sp>
        <p:nvSpPr>
          <p:cNvPr id="11" name="Text 8"/>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12" name="Text 9"/>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A day in the life of patient P077</a:t>
            </a:r>
            <a:endParaRPr lang="en-US" sz="32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Red triangles: twin alerts. Orange lines: logged meals. The alerts come before each crossing of 180.</a:t>
            </a:r>
            <a:endParaRPr lang="en-US" sz="1600" dirty="0"/>
          </a:p>
        </p:txBody>
      </p:sp>
      <p:pic>
        <p:nvPicPr>
          <p:cNvPr id="4" name="Image 0" descr="preencoded.png">    </p:cNvPr>
          <p:cNvPicPr>
            <a:picLocks noChangeAspect="1"/>
          </p:cNvPicPr>
          <p:nvPr/>
        </p:nvPicPr>
        <p:blipFill>
          <a:blip r:embed="rId1"/>
          <a:stretch>
            <a:fillRect/>
          </a:stretch>
        </p:blipFill>
        <p:spPr>
          <a:xfrm>
            <a:off x="1261872" y="1691640"/>
            <a:ext cx="9674352" cy="4572000"/>
          </a:xfrm>
          <a:prstGeom prst="rect">
            <a:avLst/>
          </a:prstGeom>
        </p:spPr>
      </p:pic>
      <p:sp>
        <p:nvSpPr>
          <p:cNvPr id="5" name="Text 2"/>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6" name="Text 3"/>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Same meal, different bodies: why each patient needs a twin</a:t>
            </a:r>
            <a:endParaRPr lang="en-US" sz="3200" dirty="0"/>
          </a:p>
        </p:txBody>
      </p:sp>
      <p:pic>
        <p:nvPicPr>
          <p:cNvPr id="3" name="Image 0" descr="preencoded.png">    </p:cNvPr>
          <p:cNvPicPr>
            <a:picLocks noChangeAspect="1"/>
          </p:cNvPicPr>
          <p:nvPr/>
        </p:nvPicPr>
        <p:blipFill>
          <a:blip r:embed="rId1"/>
          <a:stretch>
            <a:fillRect/>
          </a:stretch>
        </p:blipFill>
        <p:spPr>
          <a:xfrm>
            <a:off x="548640" y="1417320"/>
            <a:ext cx="6035040" cy="4282932"/>
          </a:xfrm>
          <a:prstGeom prst="rect">
            <a:avLst/>
          </a:prstGeom>
        </p:spPr>
      </p:pic>
      <p:sp>
        <p:nvSpPr>
          <p:cNvPr id="4" name="Text 1"/>
          <p:cNvSpPr txBox="1"/>
          <p:nvPr/>
        </p:nvSpPr>
        <p:spPr>
          <a:xfrm>
            <a:off x="6949440" y="1600200"/>
            <a:ext cx="4663440" cy="731520"/>
          </a:xfrm>
          <a:prstGeom prst="rect">
            <a:avLst/>
          </a:prstGeom>
          <a:noFill/>
          <a:ln/>
        </p:spPr>
        <p:txBody>
          <a:bodyPr wrap="square" lIns="0" tIns="0" rIns="0" bIns="0" rtlCol="0" anchor="t"/>
          <a:lstStyle/>
          <a:p>
            <a:pPr indent="0" marL="0">
              <a:buNone/>
            </a:pPr>
            <a:r>
              <a:rPr lang="en-US" sz="1800" b="1" dirty="0">
                <a:solidFill>
                  <a:srgbClr val="0E6E6B"/>
                </a:solidFill>
                <a:latin typeface="Calibri" pitchFamily="34" charset="0"/>
                <a:ea typeface="Calibri" pitchFamily="34" charset="-122"/>
                <a:cs typeface="Calibri" pitchFamily="34" charset="-120"/>
              </a:rPr>
              <a:t>The twin learns four facts about each body from the last 3 days</a:t>
            </a:r>
            <a:endParaRPr lang="en-US" sz="1800" dirty="0"/>
          </a:p>
        </p:txBody>
      </p:sp>
      <p:sp>
        <p:nvSpPr>
          <p:cNvPr id="5" name="Text 2"/>
          <p:cNvSpPr txBox="1"/>
          <p:nvPr/>
        </p:nvSpPr>
        <p:spPr>
          <a:xfrm>
            <a:off x="6949440" y="2423160"/>
            <a:ext cx="4663440" cy="155448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Normal glucose level</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Rise per gram of carbs</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How fast sugar is cleared</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How much walking helps</a:t>
            </a:r>
            <a:endParaRPr lang="en-US" sz="1500" dirty="0"/>
          </a:p>
        </p:txBody>
      </p:sp>
      <p:sp>
        <p:nvSpPr>
          <p:cNvPr id="6" name="Shape 3"/>
          <p:cNvSpPr/>
          <p:nvPr/>
        </p:nvSpPr>
        <p:spPr>
          <a:xfrm>
            <a:off x="6949440" y="4206240"/>
            <a:ext cx="4663440" cy="1554480"/>
          </a:xfrm>
          <a:prstGeom prst="roundRect">
            <a:avLst>
              <a:gd name="adj" fmla="val 5882"/>
            </a:avLst>
          </a:prstGeom>
          <a:solidFill>
            <a:srgbClr val="E3EEEC"/>
          </a:solidFill>
          <a:ln w="12700">
            <a:solidFill>
              <a:srgbClr val="E3EEEC"/>
            </a:solidFill>
            <a:prstDash val="solid"/>
          </a:ln>
        </p:spPr>
      </p:sp>
      <p:sp>
        <p:nvSpPr>
          <p:cNvPr id="7" name="Text 4"/>
          <p:cNvSpPr txBox="1"/>
          <p:nvPr/>
        </p:nvSpPr>
        <p:spPr>
          <a:xfrm>
            <a:off x="7178040" y="4297680"/>
            <a:ext cx="4206240" cy="13716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P004 has a better HbA1c than P073, yet spikes higher after the same 100 g meal. A lab report alone would miss this; the twin doesn't.</a:t>
            </a:r>
            <a:endParaRPr lang="en-US" sz="1400" dirty="0"/>
          </a:p>
        </p:txBody>
      </p:sp>
      <p:sp>
        <p:nvSpPr>
          <p:cNvPr id="8" name="Text 5"/>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9" name="Text 6"/>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Engine 2: the what-if simulator</a:t>
            </a:r>
            <a:endParaRPr lang="en-US" sz="32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Patient P077 at 12:30, just before lunch</a:t>
            </a:r>
            <a:endParaRPr lang="en-US" sz="1600" dirty="0"/>
          </a:p>
        </p:txBody>
      </p:sp>
      <p:pic>
        <p:nvPicPr>
          <p:cNvPr id="4" name="Image 0" descr="preencoded.png">    </p:cNvPr>
          <p:cNvPicPr>
            <a:picLocks noChangeAspect="1"/>
          </p:cNvPicPr>
          <p:nvPr/>
        </p:nvPicPr>
        <p:blipFill>
          <a:blip r:embed="rId1"/>
          <a:stretch>
            <a:fillRect/>
          </a:stretch>
        </p:blipFill>
        <p:spPr>
          <a:xfrm>
            <a:off x="548640" y="1645920"/>
            <a:ext cx="6949440" cy="3822192"/>
          </a:xfrm>
          <a:prstGeom prst="rect">
            <a:avLst/>
          </a:prstGeom>
        </p:spPr>
      </p:pic>
      <p:sp>
        <p:nvSpPr>
          <p:cNvPr id="5" name="Text 2"/>
          <p:cNvSpPr txBox="1"/>
          <p:nvPr/>
        </p:nvSpPr>
        <p:spPr>
          <a:xfrm>
            <a:off x="7955280" y="1737360"/>
            <a:ext cx="3749040" cy="457200"/>
          </a:xfrm>
          <a:prstGeom prst="rect">
            <a:avLst/>
          </a:prstGeom>
          <a:noFill/>
          <a:ln/>
        </p:spPr>
        <p:txBody>
          <a:bodyPr wrap="square" lIns="0" tIns="0" rIns="0" bIns="0" rtlCol="0" anchor="t"/>
          <a:lstStyle/>
          <a:p>
            <a:pPr indent="0" marL="0">
              <a:buNone/>
            </a:pPr>
            <a:r>
              <a:rPr lang="en-US" sz="1600" b="1" dirty="0">
                <a:solidFill>
                  <a:srgbClr val="0E6E6B"/>
                </a:solidFill>
                <a:latin typeface="Calibri" pitchFamily="34" charset="0"/>
                <a:ea typeface="Calibri" pitchFamily="34" charset="-122"/>
                <a:cs typeface="Calibri" pitchFamily="34" charset="-120"/>
              </a:rPr>
              <a:t>Forecast accuracy on 30 unseen patients</a:t>
            </a:r>
            <a:endParaRPr lang="en-US" sz="1600" dirty="0"/>
          </a:p>
        </p:txBody>
      </p:sp>
      <p:sp>
        <p:nvSpPr>
          <p:cNvPr id="6" name="Text 3"/>
          <p:cNvSpPr txBox="1"/>
          <p:nvPr/>
        </p:nvSpPr>
        <p:spPr>
          <a:xfrm>
            <a:off x="7955280" y="2286000"/>
            <a:ext cx="3749040" cy="685800"/>
          </a:xfrm>
          <a:prstGeom prst="rect">
            <a:avLst/>
          </a:prstGeom>
          <a:noFill/>
          <a:ln/>
        </p:spPr>
        <p:txBody>
          <a:bodyPr wrap="square" lIns="0" tIns="0" rIns="0" bIns="0" rtlCol="0" anchor="t"/>
          <a:lstStyle/>
          <a:p>
            <a:pPr indent="0" marL="0">
              <a:buNone/>
            </a:pPr>
            <a:r>
              <a:rPr lang="en-US" sz="3600" b="1" dirty="0">
                <a:solidFill>
                  <a:srgbClr val="0E6E6B"/>
                </a:solidFill>
                <a:latin typeface="Cambria" pitchFamily="34" charset="0"/>
                <a:ea typeface="Cambria" pitchFamily="34" charset="-122"/>
                <a:cs typeface="Cambria" pitchFamily="34" charset="-120"/>
              </a:rPr>
              <a:t>12 mg/dL</a:t>
            </a:r>
            <a:endParaRPr lang="en-US" sz="3600" dirty="0"/>
          </a:p>
        </p:txBody>
      </p:sp>
      <p:sp>
        <p:nvSpPr>
          <p:cNvPr id="7" name="Text 4"/>
          <p:cNvSpPr txBox="1"/>
          <p:nvPr/>
        </p:nvSpPr>
        <p:spPr>
          <a:xfrm>
            <a:off x="7955280" y="2971800"/>
            <a:ext cx="3749040" cy="64008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typical error 1 hour ahead (vs 23 if you assume no change)</a:t>
            </a:r>
            <a:endParaRPr lang="en-US" sz="1300" dirty="0"/>
          </a:p>
        </p:txBody>
      </p:sp>
      <p:sp>
        <p:nvSpPr>
          <p:cNvPr id="8" name="Text 5"/>
          <p:cNvSpPr txBox="1"/>
          <p:nvPr/>
        </p:nvSpPr>
        <p:spPr>
          <a:xfrm>
            <a:off x="7955280" y="3703320"/>
            <a:ext cx="3749040" cy="685800"/>
          </a:xfrm>
          <a:prstGeom prst="rect">
            <a:avLst/>
          </a:prstGeom>
          <a:noFill/>
          <a:ln/>
        </p:spPr>
        <p:txBody>
          <a:bodyPr wrap="square" lIns="0" tIns="0" rIns="0" bIns="0" rtlCol="0" anchor="t"/>
          <a:lstStyle/>
          <a:p>
            <a:pPr indent="0" marL="0">
              <a:buNone/>
            </a:pPr>
            <a:r>
              <a:rPr lang="en-US" sz="3600" b="1" dirty="0">
                <a:solidFill>
                  <a:srgbClr val="0E6E6B"/>
                </a:solidFill>
                <a:latin typeface="Cambria" pitchFamily="34" charset="0"/>
                <a:ea typeface="Cambria" pitchFamily="34" charset="-122"/>
                <a:cs typeface="Cambria" pitchFamily="34" charset="-120"/>
              </a:rPr>
              <a:t>14 mg/dL</a:t>
            </a:r>
            <a:endParaRPr lang="en-US" sz="3600" dirty="0"/>
          </a:p>
        </p:txBody>
      </p:sp>
      <p:sp>
        <p:nvSpPr>
          <p:cNvPr id="9" name="Text 6"/>
          <p:cNvSpPr txBox="1"/>
          <p:nvPr/>
        </p:nvSpPr>
        <p:spPr>
          <a:xfrm>
            <a:off x="7955280" y="4389120"/>
            <a:ext cx="3749040" cy="64008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typical error 2 hours ahead (vs 37)</a:t>
            </a:r>
            <a:endParaRPr lang="en-US" sz="1300" dirty="0"/>
          </a:p>
        </p:txBody>
      </p:sp>
      <p:sp>
        <p:nvSpPr>
          <p:cNvPr id="10" name="Text 7"/>
          <p:cNvSpPr txBox="1"/>
          <p:nvPr/>
        </p:nvSpPr>
        <p:spPr>
          <a:xfrm>
            <a:off x="7955280" y="5166360"/>
            <a:ext cx="3749040" cy="1005840"/>
          </a:xfrm>
          <a:prstGeom prst="rect">
            <a:avLst/>
          </a:prstGeom>
          <a:noFill/>
          <a:ln/>
        </p:spPr>
        <p:txBody>
          <a:bodyPr wrap="square" lIns="0" tIns="0" rIns="0" bIns="0" rtlCol="0" anchor="t"/>
          <a:lstStyle/>
          <a:p>
            <a:pPr indent="0" marL="0">
              <a:buNone/>
            </a:pPr>
            <a:r>
              <a:rPr lang="en-US" sz="1300" i="1" dirty="0">
                <a:solidFill>
                  <a:srgbClr val="1F2A30"/>
                </a:solidFill>
                <a:latin typeface="Calibri" pitchFamily="34" charset="0"/>
                <a:ea typeface="Calibri" pitchFamily="34" charset="-122"/>
                <a:cs typeface="Calibri" pitchFamily="34" charset="-120"/>
              </a:rPr>
              <a:t>Why a physiology model? Machine learning finds patterns; it can't be trusted to answer "what would happen if…". A small model of the body can.</a:t>
            </a:r>
            <a:endParaRPr lang="en-US" sz="1300" dirty="0"/>
          </a:p>
        </p:txBody>
      </p:sp>
      <p:sp>
        <p:nvSpPr>
          <p:cNvPr id="11" name="Text 8"/>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12" name="Text 9"/>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The doctor dashboard is live</a:t>
            </a:r>
            <a:endParaRPr lang="en-US" sz="32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indent="0" marL="0">
              <a:buNone/>
            </a:pPr>
            <a:r>
              <a:rPr lang="en-US" sz="1600" dirty="0">
                <a:solidFill>
                  <a:srgbClr val="5F6E74"/>
                </a:solidFill>
                <a:latin typeface="Calibri" pitchFamily="34" charset="0"/>
                <a:ea typeface="Calibri" pitchFamily="34" charset="-122"/>
                <a:cs typeface="Calibri" pitchFamily="34" charset="-120"/>
              </a:rPr>
              <a:t>idontthinkwecancodexlri.streamlit.app</a:t>
            </a:r>
            <a:endParaRPr lang="en-US" sz="1600" dirty="0"/>
          </a:p>
        </p:txBody>
      </p:sp>
      <p:sp>
        <p:nvSpPr>
          <p:cNvPr id="4" name="Shape 2"/>
          <p:cNvSpPr/>
          <p:nvPr/>
        </p:nvSpPr>
        <p:spPr>
          <a:xfrm>
            <a:off x="548640" y="1691640"/>
            <a:ext cx="566928" cy="566928"/>
          </a:xfrm>
          <a:prstGeom prst="ellipse">
            <a:avLst/>
          </a:prstGeom>
          <a:solidFill>
            <a:srgbClr val="0E6E6B"/>
          </a:solidFill>
          <a:ln w="12700">
            <a:solidFill>
              <a:srgbClr val="0E6E6B"/>
            </a:solidFill>
            <a:prstDash val="solid"/>
          </a:ln>
        </p:spPr>
      </p:sp>
      <p:pic>
        <p:nvPicPr>
          <p:cNvPr id="5" name="Image 0" descr="preencoded.png">    </p:cNvPr>
          <p:cNvPicPr>
            <a:picLocks noChangeAspect="1"/>
          </p:cNvPicPr>
          <p:nvPr/>
        </p:nvPicPr>
        <p:blipFill>
          <a:blip r:embed="rId1"/>
          <a:stretch>
            <a:fillRect/>
          </a:stretch>
        </p:blipFill>
        <p:spPr>
          <a:xfrm>
            <a:off x="696041" y="1839041"/>
            <a:ext cx="272125" cy="272125"/>
          </a:xfrm>
          <a:prstGeom prst="rect">
            <a:avLst/>
          </a:prstGeom>
        </p:spPr>
      </p:pic>
      <p:sp>
        <p:nvSpPr>
          <p:cNvPr id="6" name="Text 3"/>
          <p:cNvSpPr txBox="1"/>
          <p:nvPr/>
        </p:nvSpPr>
        <p:spPr>
          <a:xfrm>
            <a:off x="1325880" y="1673352"/>
            <a:ext cx="6217920" cy="32004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Ward overview</a:t>
            </a:r>
            <a:endParaRPr lang="en-US" sz="1600" dirty="0"/>
          </a:p>
        </p:txBody>
      </p:sp>
      <p:sp>
        <p:nvSpPr>
          <p:cNvPr id="7" name="Text 4"/>
          <p:cNvSpPr txBox="1"/>
          <p:nvPr/>
        </p:nvSpPr>
        <p:spPr>
          <a:xfrm>
            <a:off x="1325880" y="1993392"/>
            <a:ext cx="6217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All patients ranked by spike risk, like a triage board.</a:t>
            </a:r>
            <a:endParaRPr lang="en-US" sz="1300" dirty="0"/>
          </a:p>
        </p:txBody>
      </p:sp>
      <p:sp>
        <p:nvSpPr>
          <p:cNvPr id="8" name="Shape 5"/>
          <p:cNvSpPr/>
          <p:nvPr/>
        </p:nvSpPr>
        <p:spPr>
          <a:xfrm>
            <a:off x="548640" y="2606040"/>
            <a:ext cx="566928" cy="566928"/>
          </a:xfrm>
          <a:prstGeom prst="ellipse">
            <a:avLst/>
          </a:prstGeom>
          <a:solidFill>
            <a:srgbClr val="0E6E6B"/>
          </a:solidFill>
          <a:ln w="12700">
            <a:solidFill>
              <a:srgbClr val="0E6E6B"/>
            </a:solidFill>
            <a:prstDash val="solid"/>
          </a:ln>
        </p:spPr>
      </p:sp>
      <p:pic>
        <p:nvPicPr>
          <p:cNvPr id="9" name="Image 1" descr="preencoded.png">    </p:cNvPr>
          <p:cNvPicPr>
            <a:picLocks noChangeAspect="1"/>
          </p:cNvPicPr>
          <p:nvPr/>
        </p:nvPicPr>
        <p:blipFill>
          <a:blip r:embed="rId2"/>
          <a:stretch>
            <a:fillRect/>
          </a:stretch>
        </p:blipFill>
        <p:spPr>
          <a:xfrm>
            <a:off x="696041" y="2753441"/>
            <a:ext cx="272125" cy="272125"/>
          </a:xfrm>
          <a:prstGeom prst="rect">
            <a:avLst/>
          </a:prstGeom>
        </p:spPr>
      </p:pic>
      <p:sp>
        <p:nvSpPr>
          <p:cNvPr id="10" name="Text 6"/>
          <p:cNvSpPr txBox="1"/>
          <p:nvPr/>
        </p:nvSpPr>
        <p:spPr>
          <a:xfrm>
            <a:off x="1325880" y="2587752"/>
            <a:ext cx="6217920" cy="32004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Patient twin</a:t>
            </a:r>
            <a:endParaRPr lang="en-US" sz="1600" dirty="0"/>
          </a:p>
        </p:txBody>
      </p:sp>
      <p:sp>
        <p:nvSpPr>
          <p:cNvPr id="11" name="Text 7"/>
          <p:cNvSpPr txBox="1"/>
          <p:nvPr/>
        </p:nvSpPr>
        <p:spPr>
          <a:xfrm>
            <a:off x="1325880" y="2907792"/>
            <a:ext cx="6217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Health record, risk gauge, 24-hour timeline, and why the twin thinks so.</a:t>
            </a:r>
            <a:endParaRPr lang="en-US" sz="1300" dirty="0"/>
          </a:p>
        </p:txBody>
      </p:sp>
      <p:sp>
        <p:nvSpPr>
          <p:cNvPr id="12" name="Shape 8"/>
          <p:cNvSpPr/>
          <p:nvPr/>
        </p:nvSpPr>
        <p:spPr>
          <a:xfrm>
            <a:off x="548640" y="3520440"/>
            <a:ext cx="566928" cy="566928"/>
          </a:xfrm>
          <a:prstGeom prst="ellipse">
            <a:avLst/>
          </a:prstGeom>
          <a:solidFill>
            <a:srgbClr val="0E6E6B"/>
          </a:solidFill>
          <a:ln w="12700">
            <a:solidFill>
              <a:srgbClr val="0E6E6B"/>
            </a:solidFill>
            <a:prstDash val="solid"/>
          </a:ln>
        </p:spPr>
      </p:sp>
      <p:pic>
        <p:nvPicPr>
          <p:cNvPr id="13" name="Image 2" descr="preencoded.png">    </p:cNvPr>
          <p:cNvPicPr>
            <a:picLocks noChangeAspect="1"/>
          </p:cNvPicPr>
          <p:nvPr/>
        </p:nvPicPr>
        <p:blipFill>
          <a:blip r:embed="rId3"/>
          <a:stretch>
            <a:fillRect/>
          </a:stretch>
        </p:blipFill>
        <p:spPr>
          <a:xfrm>
            <a:off x="696041" y="3667841"/>
            <a:ext cx="272125" cy="272125"/>
          </a:xfrm>
          <a:prstGeom prst="rect">
            <a:avLst/>
          </a:prstGeom>
        </p:spPr>
      </p:pic>
      <p:sp>
        <p:nvSpPr>
          <p:cNvPr id="14" name="Text 9"/>
          <p:cNvSpPr txBox="1"/>
          <p:nvPr/>
        </p:nvSpPr>
        <p:spPr>
          <a:xfrm>
            <a:off x="1325880" y="3502152"/>
            <a:ext cx="6217920" cy="32004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What if…</a:t>
            </a:r>
            <a:endParaRPr lang="en-US" sz="1600" dirty="0"/>
          </a:p>
        </p:txBody>
      </p:sp>
      <p:sp>
        <p:nvSpPr>
          <p:cNvPr id="15" name="Text 10"/>
          <p:cNvSpPr txBox="1"/>
          <p:nvPr/>
        </p:nvSpPr>
        <p:spPr>
          <a:xfrm>
            <a:off x="1325880" y="3822192"/>
            <a:ext cx="6217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Meal and walk sliders with a 3-hour forecast; reveal what actually happened.</a:t>
            </a:r>
            <a:endParaRPr lang="en-US" sz="1300" dirty="0"/>
          </a:p>
        </p:txBody>
      </p:sp>
      <p:sp>
        <p:nvSpPr>
          <p:cNvPr id="16" name="Shape 11"/>
          <p:cNvSpPr/>
          <p:nvPr/>
        </p:nvSpPr>
        <p:spPr>
          <a:xfrm>
            <a:off x="548640" y="4434840"/>
            <a:ext cx="566928" cy="566928"/>
          </a:xfrm>
          <a:prstGeom prst="ellipse">
            <a:avLst/>
          </a:prstGeom>
          <a:solidFill>
            <a:srgbClr val="0E6E6B"/>
          </a:solidFill>
          <a:ln w="12700">
            <a:solidFill>
              <a:srgbClr val="0E6E6B"/>
            </a:solidFill>
            <a:prstDash val="solid"/>
          </a:ln>
        </p:spPr>
      </p:sp>
      <p:pic>
        <p:nvPicPr>
          <p:cNvPr id="17" name="Image 3" descr="preencoded.png">    </p:cNvPr>
          <p:cNvPicPr>
            <a:picLocks noChangeAspect="1"/>
          </p:cNvPicPr>
          <p:nvPr/>
        </p:nvPicPr>
        <p:blipFill>
          <a:blip r:embed="rId4"/>
          <a:stretch>
            <a:fillRect/>
          </a:stretch>
        </p:blipFill>
        <p:spPr>
          <a:xfrm>
            <a:off x="696041" y="4582241"/>
            <a:ext cx="272125" cy="272125"/>
          </a:xfrm>
          <a:prstGeom prst="rect">
            <a:avLst/>
          </a:prstGeom>
        </p:spPr>
      </p:pic>
      <p:sp>
        <p:nvSpPr>
          <p:cNvPr id="18" name="Text 12"/>
          <p:cNvSpPr txBox="1"/>
          <p:nvPr/>
        </p:nvSpPr>
        <p:spPr>
          <a:xfrm>
            <a:off x="1325880" y="4416552"/>
            <a:ext cx="6217920" cy="32004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How well it works</a:t>
            </a:r>
            <a:endParaRPr lang="en-US" sz="1600" dirty="0"/>
          </a:p>
        </p:txBody>
      </p:sp>
      <p:sp>
        <p:nvSpPr>
          <p:cNvPr id="19" name="Text 13"/>
          <p:cNvSpPr txBox="1"/>
          <p:nvPr/>
        </p:nvSpPr>
        <p:spPr>
          <a:xfrm>
            <a:off x="1325880" y="4736592"/>
            <a:ext cx="6217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Model comparison and which data sources drive decisions.</a:t>
            </a:r>
            <a:endParaRPr lang="en-US" sz="1300" dirty="0"/>
          </a:p>
        </p:txBody>
      </p:sp>
      <p:sp>
        <p:nvSpPr>
          <p:cNvPr id="20" name="Shape 14"/>
          <p:cNvSpPr/>
          <p:nvPr/>
        </p:nvSpPr>
        <p:spPr>
          <a:xfrm>
            <a:off x="548640" y="5349240"/>
            <a:ext cx="566928" cy="566928"/>
          </a:xfrm>
          <a:prstGeom prst="ellipse">
            <a:avLst/>
          </a:prstGeom>
          <a:solidFill>
            <a:srgbClr val="0E6E6B"/>
          </a:solidFill>
          <a:ln w="12700">
            <a:solidFill>
              <a:srgbClr val="0E6E6B"/>
            </a:solidFill>
            <a:prstDash val="solid"/>
          </a:ln>
        </p:spPr>
      </p:sp>
      <p:pic>
        <p:nvPicPr>
          <p:cNvPr id="21" name="Image 4" descr="preencoded.png">    </p:cNvPr>
          <p:cNvPicPr>
            <a:picLocks noChangeAspect="1"/>
          </p:cNvPicPr>
          <p:nvPr/>
        </p:nvPicPr>
        <p:blipFill>
          <a:blip r:embed="rId5"/>
          <a:stretch>
            <a:fillRect/>
          </a:stretch>
        </p:blipFill>
        <p:spPr>
          <a:xfrm>
            <a:off x="696041" y="5496641"/>
            <a:ext cx="272125" cy="272125"/>
          </a:xfrm>
          <a:prstGeom prst="rect">
            <a:avLst/>
          </a:prstGeom>
        </p:spPr>
      </p:pic>
      <p:sp>
        <p:nvSpPr>
          <p:cNvPr id="22" name="Text 15"/>
          <p:cNvSpPr txBox="1"/>
          <p:nvPr/>
        </p:nvSpPr>
        <p:spPr>
          <a:xfrm>
            <a:off x="1325880" y="5330952"/>
            <a:ext cx="6217920" cy="32004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Clinic clock</a:t>
            </a:r>
            <a:endParaRPr lang="en-US" sz="1600" dirty="0"/>
          </a:p>
        </p:txBody>
      </p:sp>
      <p:sp>
        <p:nvSpPr>
          <p:cNvPr id="23" name="Text 16"/>
          <p:cNvSpPr txBox="1"/>
          <p:nvPr/>
        </p:nvSpPr>
        <p:spPr>
          <a:xfrm>
            <a:off x="1325880" y="5650992"/>
            <a:ext cx="6217920" cy="36576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Replays 14 days as if live; the twin only ever sees the past.</a:t>
            </a:r>
            <a:endParaRPr lang="en-US" sz="1300" dirty="0"/>
          </a:p>
        </p:txBody>
      </p:sp>
      <p:sp>
        <p:nvSpPr>
          <p:cNvPr id="24" name="Shape 17"/>
          <p:cNvSpPr/>
          <p:nvPr/>
        </p:nvSpPr>
        <p:spPr>
          <a:xfrm>
            <a:off x="8138160" y="1691640"/>
            <a:ext cx="3474720" cy="4343400"/>
          </a:xfrm>
          <a:prstGeom prst="roundRect">
            <a:avLst>
              <a:gd name="adj" fmla="val 3158"/>
            </a:avLst>
          </a:prstGeom>
          <a:solidFill>
            <a:srgbClr val="F3F6F5"/>
          </a:solidFill>
          <a:ln w="12700">
            <a:solidFill>
              <a:srgbClr val="F3F6F5"/>
            </a:solidFill>
            <a:prstDash val="solid"/>
          </a:ln>
        </p:spPr>
      </p:sp>
      <p:pic>
        <p:nvPicPr>
          <p:cNvPr id="25" name="Image 5" descr="preencoded.png">    </p:cNvPr>
          <p:cNvPicPr>
            <a:picLocks noChangeAspect="1"/>
          </p:cNvPicPr>
          <p:nvPr/>
        </p:nvPicPr>
        <p:blipFill>
          <a:blip r:embed="rId6"/>
          <a:stretch>
            <a:fillRect/>
          </a:stretch>
        </p:blipFill>
        <p:spPr>
          <a:xfrm>
            <a:off x="8641080" y="1965960"/>
            <a:ext cx="2468880" cy="2468880"/>
          </a:xfrm>
          <a:prstGeom prst="rect">
            <a:avLst/>
          </a:prstGeom>
        </p:spPr>
      </p:pic>
      <p:sp>
        <p:nvSpPr>
          <p:cNvPr id="26" name="Text 18"/>
          <p:cNvSpPr txBox="1"/>
          <p:nvPr/>
        </p:nvSpPr>
        <p:spPr>
          <a:xfrm>
            <a:off x="8366760" y="4663440"/>
            <a:ext cx="3017520" cy="822960"/>
          </a:xfrm>
          <a:prstGeom prst="rect">
            <a:avLst/>
          </a:prstGeom>
          <a:noFill/>
          <a:ln/>
        </p:spPr>
        <p:txBody>
          <a:bodyPr wrap="square" lIns="0" tIns="0" rIns="0" bIns="0" rtlCol="0" anchor="t"/>
          <a:lstStyle/>
          <a:p>
            <a:pPr algn="ctr" indent="0" marL="0">
              <a:buNone/>
            </a:pPr>
            <a:r>
              <a:rPr lang="en-US" sz="1400" dirty="0">
                <a:solidFill>
                  <a:srgbClr val="1F2A30"/>
                </a:solidFill>
                <a:latin typeface="Calibri" pitchFamily="34" charset="0"/>
                <a:ea typeface="Calibri" pitchFamily="34" charset="-122"/>
                <a:cs typeface="Calibri" pitchFamily="34" charset="-120"/>
              </a:rPr>
              <a:t>Scan to try it yourself. No installation, works on a phone.</a:t>
            </a:r>
            <a:endParaRPr lang="en-US" sz="1400" dirty="0"/>
          </a:p>
        </p:txBody>
      </p:sp>
      <p:sp>
        <p:nvSpPr>
          <p:cNvPr id="27" name="Text 19"/>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28" name="Text 20"/>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Built to be trusted by doctors</a:t>
            </a:r>
            <a:endParaRPr lang="en-US" sz="3200" dirty="0"/>
          </a:p>
        </p:txBody>
      </p:sp>
      <p:sp>
        <p:nvSpPr>
          <p:cNvPr id="3" name="Shape 1"/>
          <p:cNvSpPr/>
          <p:nvPr/>
        </p:nvSpPr>
        <p:spPr>
          <a:xfrm>
            <a:off x="548640" y="1508760"/>
            <a:ext cx="3520440" cy="2103120"/>
          </a:xfrm>
          <a:prstGeom prst="roundRect">
            <a:avLst>
              <a:gd name="adj" fmla="val 5217"/>
            </a:avLst>
          </a:prstGeom>
          <a:solidFill>
            <a:srgbClr val="F3F6F5"/>
          </a:solidFill>
          <a:ln w="12700">
            <a:solidFill>
              <a:srgbClr val="F3F6F5"/>
            </a:solidFill>
            <a:prstDash val="solid"/>
          </a:ln>
        </p:spPr>
      </p:sp>
      <p:sp>
        <p:nvSpPr>
          <p:cNvPr id="4" name="Shape 2"/>
          <p:cNvSpPr/>
          <p:nvPr/>
        </p:nvSpPr>
        <p:spPr>
          <a:xfrm>
            <a:off x="822960" y="1783080"/>
            <a:ext cx="594360" cy="594360"/>
          </a:xfrm>
          <a:prstGeom prst="ellipse">
            <a:avLst/>
          </a:prstGeom>
          <a:solidFill>
            <a:srgbClr val="0E6E6B"/>
          </a:solidFill>
          <a:ln w="12700">
            <a:solidFill>
              <a:srgbClr val="0E6E6B"/>
            </a:solidFill>
            <a:prstDash val="solid"/>
          </a:ln>
        </p:spPr>
      </p:sp>
      <p:pic>
        <p:nvPicPr>
          <p:cNvPr id="5" name="Image 0" descr="preencoded.png">    </p:cNvPr>
          <p:cNvPicPr>
            <a:picLocks noChangeAspect="1"/>
          </p:cNvPicPr>
          <p:nvPr/>
        </p:nvPicPr>
        <p:blipFill>
          <a:blip r:embed="rId1"/>
          <a:stretch>
            <a:fillRect/>
          </a:stretch>
        </p:blipFill>
        <p:spPr>
          <a:xfrm>
            <a:off x="977494" y="1937614"/>
            <a:ext cx="285293" cy="285293"/>
          </a:xfrm>
          <a:prstGeom prst="rect">
            <a:avLst/>
          </a:prstGeom>
        </p:spPr>
      </p:pic>
      <p:sp>
        <p:nvSpPr>
          <p:cNvPr id="6" name="Text 3"/>
          <p:cNvSpPr txBox="1"/>
          <p:nvPr/>
        </p:nvSpPr>
        <p:spPr>
          <a:xfrm>
            <a:off x="822960" y="249631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Unseen patients</a:t>
            </a:r>
            <a:endParaRPr lang="en-US" sz="1600" dirty="0"/>
          </a:p>
        </p:txBody>
      </p:sp>
      <p:sp>
        <p:nvSpPr>
          <p:cNvPr id="7" name="Text 4"/>
          <p:cNvSpPr txBox="1"/>
          <p:nvPr/>
        </p:nvSpPr>
        <p:spPr>
          <a:xfrm>
            <a:off x="822960" y="288036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All results come from 30 people the model never trained on.</a:t>
            </a:r>
            <a:endParaRPr lang="en-US" sz="1300" dirty="0"/>
          </a:p>
        </p:txBody>
      </p:sp>
      <p:sp>
        <p:nvSpPr>
          <p:cNvPr id="8" name="Shape 5"/>
          <p:cNvSpPr/>
          <p:nvPr/>
        </p:nvSpPr>
        <p:spPr>
          <a:xfrm>
            <a:off x="4343400" y="1508760"/>
            <a:ext cx="3520440" cy="2103120"/>
          </a:xfrm>
          <a:prstGeom prst="roundRect">
            <a:avLst>
              <a:gd name="adj" fmla="val 5217"/>
            </a:avLst>
          </a:prstGeom>
          <a:solidFill>
            <a:srgbClr val="F3F6F5"/>
          </a:solidFill>
          <a:ln w="12700">
            <a:solidFill>
              <a:srgbClr val="F3F6F5"/>
            </a:solidFill>
            <a:prstDash val="solid"/>
          </a:ln>
        </p:spPr>
      </p:sp>
      <p:sp>
        <p:nvSpPr>
          <p:cNvPr id="9" name="Shape 6"/>
          <p:cNvSpPr/>
          <p:nvPr/>
        </p:nvSpPr>
        <p:spPr>
          <a:xfrm>
            <a:off x="4617720" y="1783080"/>
            <a:ext cx="594360" cy="594360"/>
          </a:xfrm>
          <a:prstGeom prst="ellipse">
            <a:avLst/>
          </a:prstGeom>
          <a:solidFill>
            <a:srgbClr val="0E6E6B"/>
          </a:solidFill>
          <a:ln w="12700">
            <a:solidFill>
              <a:srgbClr val="0E6E6B"/>
            </a:solidFill>
            <a:prstDash val="solid"/>
          </a:ln>
        </p:spPr>
      </p:sp>
      <p:pic>
        <p:nvPicPr>
          <p:cNvPr id="10" name="Image 1" descr="preencoded.png">    </p:cNvPr>
          <p:cNvPicPr>
            <a:picLocks noChangeAspect="1"/>
          </p:cNvPicPr>
          <p:nvPr/>
        </p:nvPicPr>
        <p:blipFill>
          <a:blip r:embed="rId2"/>
          <a:stretch>
            <a:fillRect/>
          </a:stretch>
        </p:blipFill>
        <p:spPr>
          <a:xfrm>
            <a:off x="4772254" y="1937614"/>
            <a:ext cx="285293" cy="285293"/>
          </a:xfrm>
          <a:prstGeom prst="rect">
            <a:avLst/>
          </a:prstGeom>
        </p:spPr>
      </p:pic>
      <p:sp>
        <p:nvSpPr>
          <p:cNvPr id="11" name="Text 7"/>
          <p:cNvSpPr txBox="1"/>
          <p:nvPr/>
        </p:nvSpPr>
        <p:spPr>
          <a:xfrm>
            <a:off x="4617720" y="249631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No future data</a:t>
            </a:r>
            <a:endParaRPr lang="en-US" sz="1600" dirty="0"/>
          </a:p>
        </p:txBody>
      </p:sp>
      <p:sp>
        <p:nvSpPr>
          <p:cNvPr id="12" name="Text 8"/>
          <p:cNvSpPr txBox="1"/>
          <p:nvPr/>
        </p:nvSpPr>
        <p:spPr>
          <a:xfrm>
            <a:off x="4617720" y="288036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Every prediction uses only what was known at that moment.</a:t>
            </a:r>
            <a:endParaRPr lang="en-US" sz="1300" dirty="0"/>
          </a:p>
        </p:txBody>
      </p:sp>
      <p:sp>
        <p:nvSpPr>
          <p:cNvPr id="13" name="Shape 9"/>
          <p:cNvSpPr/>
          <p:nvPr/>
        </p:nvSpPr>
        <p:spPr>
          <a:xfrm>
            <a:off x="8138160" y="1508760"/>
            <a:ext cx="3520440" cy="2103120"/>
          </a:xfrm>
          <a:prstGeom prst="roundRect">
            <a:avLst>
              <a:gd name="adj" fmla="val 5217"/>
            </a:avLst>
          </a:prstGeom>
          <a:solidFill>
            <a:srgbClr val="F3F6F5"/>
          </a:solidFill>
          <a:ln w="12700">
            <a:solidFill>
              <a:srgbClr val="F3F6F5"/>
            </a:solidFill>
            <a:prstDash val="solid"/>
          </a:ln>
        </p:spPr>
      </p:sp>
      <p:sp>
        <p:nvSpPr>
          <p:cNvPr id="14" name="Shape 10"/>
          <p:cNvSpPr/>
          <p:nvPr/>
        </p:nvSpPr>
        <p:spPr>
          <a:xfrm>
            <a:off x="8412480" y="1783080"/>
            <a:ext cx="594360" cy="594360"/>
          </a:xfrm>
          <a:prstGeom prst="ellipse">
            <a:avLst/>
          </a:prstGeom>
          <a:solidFill>
            <a:srgbClr val="0E6E6B"/>
          </a:solidFill>
          <a:ln w="12700">
            <a:solidFill>
              <a:srgbClr val="0E6E6B"/>
            </a:solidFill>
            <a:prstDash val="solid"/>
          </a:ln>
        </p:spPr>
      </p:sp>
      <p:pic>
        <p:nvPicPr>
          <p:cNvPr id="15" name="Image 2" descr="preencoded.png">    </p:cNvPr>
          <p:cNvPicPr>
            <a:picLocks noChangeAspect="1"/>
          </p:cNvPicPr>
          <p:nvPr/>
        </p:nvPicPr>
        <p:blipFill>
          <a:blip r:embed="rId3"/>
          <a:stretch>
            <a:fillRect/>
          </a:stretch>
        </p:blipFill>
        <p:spPr>
          <a:xfrm>
            <a:off x="8567014" y="1937614"/>
            <a:ext cx="285293" cy="285293"/>
          </a:xfrm>
          <a:prstGeom prst="rect">
            <a:avLst/>
          </a:prstGeom>
        </p:spPr>
      </p:pic>
      <p:sp>
        <p:nvSpPr>
          <p:cNvPr id="16" name="Text 11"/>
          <p:cNvSpPr txBox="1"/>
          <p:nvPr/>
        </p:nvSpPr>
        <p:spPr>
          <a:xfrm>
            <a:off x="8412480" y="249631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Alarm fatigue measured</a:t>
            </a:r>
            <a:endParaRPr lang="en-US" sz="1600" dirty="0"/>
          </a:p>
        </p:txBody>
      </p:sp>
      <p:sp>
        <p:nvSpPr>
          <p:cNvPr id="17" name="Text 12"/>
          <p:cNvSpPr txBox="1"/>
          <p:nvPr/>
        </p:nvSpPr>
        <p:spPr>
          <a:xfrm>
            <a:off x="8412480" y="288036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Under 1 false alarm per patient per day at the chosen alert level.</a:t>
            </a:r>
            <a:endParaRPr lang="en-US" sz="1300" dirty="0"/>
          </a:p>
        </p:txBody>
      </p:sp>
      <p:sp>
        <p:nvSpPr>
          <p:cNvPr id="18" name="Shape 13"/>
          <p:cNvSpPr/>
          <p:nvPr/>
        </p:nvSpPr>
        <p:spPr>
          <a:xfrm>
            <a:off x="548640" y="3886200"/>
            <a:ext cx="3520440" cy="2103120"/>
          </a:xfrm>
          <a:prstGeom prst="roundRect">
            <a:avLst>
              <a:gd name="adj" fmla="val 5217"/>
            </a:avLst>
          </a:prstGeom>
          <a:solidFill>
            <a:srgbClr val="F3F6F5"/>
          </a:solidFill>
          <a:ln w="12700">
            <a:solidFill>
              <a:srgbClr val="F3F6F5"/>
            </a:solidFill>
            <a:prstDash val="solid"/>
          </a:ln>
        </p:spPr>
      </p:sp>
      <p:sp>
        <p:nvSpPr>
          <p:cNvPr id="19" name="Shape 14"/>
          <p:cNvSpPr/>
          <p:nvPr/>
        </p:nvSpPr>
        <p:spPr>
          <a:xfrm>
            <a:off x="822960" y="4160520"/>
            <a:ext cx="594360" cy="594360"/>
          </a:xfrm>
          <a:prstGeom prst="ellipse">
            <a:avLst/>
          </a:prstGeom>
          <a:solidFill>
            <a:srgbClr val="0E6E6B"/>
          </a:solidFill>
          <a:ln w="12700">
            <a:solidFill>
              <a:srgbClr val="0E6E6B"/>
            </a:solidFill>
            <a:prstDash val="solid"/>
          </a:ln>
        </p:spPr>
      </p:sp>
      <p:pic>
        <p:nvPicPr>
          <p:cNvPr id="20" name="Image 3" descr="preencoded.png">    </p:cNvPr>
          <p:cNvPicPr>
            <a:picLocks noChangeAspect="1"/>
          </p:cNvPicPr>
          <p:nvPr/>
        </p:nvPicPr>
        <p:blipFill>
          <a:blip r:embed="rId4"/>
          <a:stretch>
            <a:fillRect/>
          </a:stretch>
        </p:blipFill>
        <p:spPr>
          <a:xfrm>
            <a:off x="977494" y="4315054"/>
            <a:ext cx="285293" cy="285293"/>
          </a:xfrm>
          <a:prstGeom prst="rect">
            <a:avLst/>
          </a:prstGeom>
        </p:spPr>
      </p:pic>
      <p:sp>
        <p:nvSpPr>
          <p:cNvPr id="21" name="Text 15"/>
          <p:cNvSpPr txBox="1"/>
          <p:nvPr/>
        </p:nvSpPr>
        <p:spPr>
          <a:xfrm>
            <a:off x="822960" y="487375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Explainable</a:t>
            </a:r>
            <a:endParaRPr lang="en-US" sz="1600" dirty="0"/>
          </a:p>
        </p:txBody>
      </p:sp>
      <p:sp>
        <p:nvSpPr>
          <p:cNvPr id="22" name="Text 16"/>
          <p:cNvSpPr txBox="1"/>
          <p:nvPr/>
        </p:nvSpPr>
        <p:spPr>
          <a:xfrm>
            <a:off x="822960" y="525780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Every risk score shows its top reasons, labelled by data source.</a:t>
            </a:r>
            <a:endParaRPr lang="en-US" sz="1300" dirty="0"/>
          </a:p>
        </p:txBody>
      </p:sp>
      <p:sp>
        <p:nvSpPr>
          <p:cNvPr id="23" name="Shape 17"/>
          <p:cNvSpPr/>
          <p:nvPr/>
        </p:nvSpPr>
        <p:spPr>
          <a:xfrm>
            <a:off x="4343400" y="3886200"/>
            <a:ext cx="3520440" cy="2103120"/>
          </a:xfrm>
          <a:prstGeom prst="roundRect">
            <a:avLst>
              <a:gd name="adj" fmla="val 5217"/>
            </a:avLst>
          </a:prstGeom>
          <a:solidFill>
            <a:srgbClr val="F3F6F5"/>
          </a:solidFill>
          <a:ln w="12700">
            <a:solidFill>
              <a:srgbClr val="F3F6F5"/>
            </a:solidFill>
            <a:prstDash val="solid"/>
          </a:ln>
        </p:spPr>
      </p:sp>
      <p:sp>
        <p:nvSpPr>
          <p:cNvPr id="24" name="Shape 18"/>
          <p:cNvSpPr/>
          <p:nvPr/>
        </p:nvSpPr>
        <p:spPr>
          <a:xfrm>
            <a:off x="4617720" y="4160520"/>
            <a:ext cx="594360" cy="594360"/>
          </a:xfrm>
          <a:prstGeom prst="ellipse">
            <a:avLst/>
          </a:prstGeom>
          <a:solidFill>
            <a:srgbClr val="0E6E6B"/>
          </a:solidFill>
          <a:ln w="12700">
            <a:solidFill>
              <a:srgbClr val="0E6E6B"/>
            </a:solidFill>
            <a:prstDash val="solid"/>
          </a:ln>
        </p:spPr>
      </p:sp>
      <p:pic>
        <p:nvPicPr>
          <p:cNvPr id="25" name="Image 4" descr="preencoded.png">    </p:cNvPr>
          <p:cNvPicPr>
            <a:picLocks noChangeAspect="1"/>
          </p:cNvPicPr>
          <p:nvPr/>
        </p:nvPicPr>
        <p:blipFill>
          <a:blip r:embed="rId5"/>
          <a:stretch>
            <a:fillRect/>
          </a:stretch>
        </p:blipFill>
        <p:spPr>
          <a:xfrm>
            <a:off x="4772254" y="4315054"/>
            <a:ext cx="285293" cy="285293"/>
          </a:xfrm>
          <a:prstGeom prst="rect">
            <a:avLst/>
          </a:prstGeom>
        </p:spPr>
      </p:pic>
      <p:sp>
        <p:nvSpPr>
          <p:cNvPr id="26" name="Text 19"/>
          <p:cNvSpPr txBox="1"/>
          <p:nvPr/>
        </p:nvSpPr>
        <p:spPr>
          <a:xfrm>
            <a:off x="4617720" y="487375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Actionable</a:t>
            </a:r>
            <a:endParaRPr lang="en-US" sz="1600" dirty="0"/>
          </a:p>
        </p:txBody>
      </p:sp>
      <p:sp>
        <p:nvSpPr>
          <p:cNvPr id="27" name="Text 20"/>
          <p:cNvSpPr txBox="1"/>
          <p:nvPr/>
        </p:nvSpPr>
        <p:spPr>
          <a:xfrm>
            <a:off x="4617720" y="525780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What-if forecasts turn a warning into a concrete choice: walk, eat less, or both.</a:t>
            </a:r>
            <a:endParaRPr lang="en-US" sz="1300" dirty="0"/>
          </a:p>
        </p:txBody>
      </p:sp>
      <p:sp>
        <p:nvSpPr>
          <p:cNvPr id="28" name="Shape 21"/>
          <p:cNvSpPr/>
          <p:nvPr/>
        </p:nvSpPr>
        <p:spPr>
          <a:xfrm>
            <a:off x="8138160" y="3886200"/>
            <a:ext cx="3520440" cy="2103120"/>
          </a:xfrm>
          <a:prstGeom prst="roundRect">
            <a:avLst>
              <a:gd name="adj" fmla="val 5217"/>
            </a:avLst>
          </a:prstGeom>
          <a:solidFill>
            <a:srgbClr val="F3F6F5"/>
          </a:solidFill>
          <a:ln w="12700">
            <a:solidFill>
              <a:srgbClr val="F3F6F5"/>
            </a:solidFill>
            <a:prstDash val="solid"/>
          </a:ln>
        </p:spPr>
      </p:sp>
      <p:sp>
        <p:nvSpPr>
          <p:cNvPr id="29" name="Shape 22"/>
          <p:cNvSpPr/>
          <p:nvPr/>
        </p:nvSpPr>
        <p:spPr>
          <a:xfrm>
            <a:off x="8412480" y="4160520"/>
            <a:ext cx="594360" cy="594360"/>
          </a:xfrm>
          <a:prstGeom prst="ellipse">
            <a:avLst/>
          </a:prstGeom>
          <a:solidFill>
            <a:srgbClr val="0E6E6B"/>
          </a:solidFill>
          <a:ln w="12700">
            <a:solidFill>
              <a:srgbClr val="0E6E6B"/>
            </a:solidFill>
            <a:prstDash val="solid"/>
          </a:ln>
        </p:spPr>
      </p:sp>
      <p:pic>
        <p:nvPicPr>
          <p:cNvPr id="30" name="Image 5" descr="preencoded.png">    </p:cNvPr>
          <p:cNvPicPr>
            <a:picLocks noChangeAspect="1"/>
          </p:cNvPicPr>
          <p:nvPr/>
        </p:nvPicPr>
        <p:blipFill>
          <a:blip r:embed="rId6"/>
          <a:stretch>
            <a:fillRect/>
          </a:stretch>
        </p:blipFill>
        <p:spPr>
          <a:xfrm>
            <a:off x="8567014" y="4315054"/>
            <a:ext cx="285293" cy="285293"/>
          </a:xfrm>
          <a:prstGeom prst="rect">
            <a:avLst/>
          </a:prstGeom>
        </p:spPr>
      </p:pic>
      <p:sp>
        <p:nvSpPr>
          <p:cNvPr id="31" name="Text 23"/>
          <p:cNvSpPr txBox="1"/>
          <p:nvPr/>
        </p:nvSpPr>
        <p:spPr>
          <a:xfrm>
            <a:off x="8412480" y="4873752"/>
            <a:ext cx="3017520" cy="365760"/>
          </a:xfrm>
          <a:prstGeom prst="rect">
            <a:avLst/>
          </a:prstGeom>
          <a:noFill/>
          <a:ln/>
        </p:spPr>
        <p:txBody>
          <a:bodyPr wrap="square" lIns="0" tIns="0" rIns="0" bIns="0" rtlCol="0" anchor="t"/>
          <a:lstStyle/>
          <a:p>
            <a:pPr indent="0" marL="0">
              <a:buNone/>
            </a:pPr>
            <a:r>
              <a:rPr lang="en-US" sz="1600" b="1" dirty="0">
                <a:solidFill>
                  <a:srgbClr val="1F2A30"/>
                </a:solidFill>
                <a:latin typeface="Calibri" pitchFamily="34" charset="0"/>
                <a:ea typeface="Calibri" pitchFamily="34" charset="-122"/>
                <a:cs typeface="Calibri" pitchFamily="34" charset="-120"/>
              </a:rPr>
              <a:t>Privacy by design</a:t>
            </a:r>
            <a:endParaRPr lang="en-US" sz="1600" dirty="0"/>
          </a:p>
        </p:txBody>
      </p:sp>
      <p:sp>
        <p:nvSpPr>
          <p:cNvPr id="32" name="Text 24"/>
          <p:cNvSpPr txBox="1"/>
          <p:nvPr/>
        </p:nvSpPr>
        <p:spPr>
          <a:xfrm>
            <a:off x="8412480" y="5257800"/>
            <a:ext cx="3017520" cy="685800"/>
          </a:xfrm>
          <a:prstGeom prst="rect">
            <a:avLst/>
          </a:prstGeom>
          <a:noFill/>
          <a:ln/>
        </p:spPr>
        <p:txBody>
          <a:bodyPr wrap="square" lIns="0" tIns="0" rIns="0" bIns="0" rtlCol="0" anchor="t"/>
          <a:lstStyle/>
          <a:p>
            <a:pPr indent="0" marL="0">
              <a:buNone/>
            </a:pPr>
            <a:r>
              <a:rPr lang="en-US" sz="1300" dirty="0">
                <a:solidFill>
                  <a:srgbClr val="5F6E74"/>
                </a:solidFill>
                <a:latin typeface="Calibri" pitchFamily="34" charset="0"/>
                <a:ea typeface="Calibri" pitchFamily="34" charset="-122"/>
                <a:cs typeface="Calibri" pitchFamily="34" charset="-120"/>
              </a:rPr>
              <a:t>Synthetic data only; ready for consent-based ABDM records later.</a:t>
            </a:r>
            <a:endParaRPr lang="en-US" sz="1300" dirty="0"/>
          </a:p>
        </p:txBody>
      </p:sp>
      <p:sp>
        <p:nvSpPr>
          <p:cNvPr id="33" name="Text 25"/>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34" name="Text 26"/>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30"/>
                </a:solidFill>
                <a:latin typeface="Cambria" pitchFamily="34" charset="0"/>
                <a:ea typeface="Cambria" pitchFamily="34" charset="-122"/>
                <a:cs typeface="Cambria" pitchFamily="34" charset="-120"/>
              </a:rPr>
              <a:t>Honest limits, and the road to real patients</a:t>
            </a:r>
            <a:endParaRPr lang="en-US" sz="3200" dirty="0"/>
          </a:p>
        </p:txBody>
      </p:sp>
      <p:sp>
        <p:nvSpPr>
          <p:cNvPr id="3" name="Shape 1"/>
          <p:cNvSpPr/>
          <p:nvPr/>
        </p:nvSpPr>
        <p:spPr>
          <a:xfrm>
            <a:off x="548640" y="1508760"/>
            <a:ext cx="5440680" cy="3840480"/>
          </a:xfrm>
          <a:prstGeom prst="roundRect">
            <a:avLst>
              <a:gd name="adj" fmla="val 2857"/>
            </a:avLst>
          </a:prstGeom>
          <a:solidFill>
            <a:srgbClr val="F3F6F5"/>
          </a:solidFill>
          <a:ln w="12700">
            <a:solidFill>
              <a:srgbClr val="F3F6F5"/>
            </a:solidFill>
            <a:prstDash val="solid"/>
          </a:ln>
        </p:spPr>
      </p:sp>
      <p:sp>
        <p:nvSpPr>
          <p:cNvPr id="4" name="Text 2"/>
          <p:cNvSpPr txBox="1"/>
          <p:nvPr/>
        </p:nvSpPr>
        <p:spPr>
          <a:xfrm>
            <a:off x="868680" y="1737360"/>
            <a:ext cx="4846320" cy="457200"/>
          </a:xfrm>
          <a:prstGeom prst="rect">
            <a:avLst/>
          </a:prstGeom>
          <a:noFill/>
          <a:ln/>
        </p:spPr>
        <p:txBody>
          <a:bodyPr wrap="square" lIns="0" tIns="0" rIns="0" bIns="0" rtlCol="0" anchor="t"/>
          <a:lstStyle/>
          <a:p>
            <a:pPr indent="0" marL="0">
              <a:buNone/>
            </a:pPr>
            <a:r>
              <a:rPr lang="en-US" sz="2200" b="1" dirty="0">
                <a:solidFill>
                  <a:srgbClr val="1F2A30"/>
                </a:solidFill>
                <a:latin typeface="Cambria" pitchFamily="34" charset="0"/>
                <a:ea typeface="Cambria" pitchFamily="34" charset="-122"/>
                <a:cs typeface="Cambria" pitchFamily="34" charset="-120"/>
              </a:rPr>
              <a:t>What we know it can't do yet</a:t>
            </a:r>
            <a:endParaRPr lang="en-US" sz="2200" dirty="0"/>
          </a:p>
        </p:txBody>
      </p:sp>
      <p:sp>
        <p:nvSpPr>
          <p:cNvPr id="5" name="Text 3"/>
          <p:cNvSpPr txBox="1"/>
          <p:nvPr/>
        </p:nvSpPr>
        <p:spPr>
          <a:xfrm>
            <a:off x="868680" y="233172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2A30"/>
                </a:solidFill>
                <a:latin typeface="Calibri" pitchFamily="34" charset="0"/>
                <a:ea typeface="Calibri" pitchFamily="34" charset="-122"/>
                <a:cs typeface="Calibri" pitchFamily="34" charset="-120"/>
              </a:rPr>
              <a:t>Synthetic patients follow steadier routines than real people, so the twin partly anticipates meals from the time of day.</a:t>
            </a:r>
            <a:endParaRPr lang="en-US" sz="1700" dirty="0"/>
          </a:p>
          <a:p>
            <a:pPr marL="342900" indent="-342900">
              <a:spcAft>
                <a:spcPts val="800"/>
              </a:spcAft>
              <a:buSzPct val="100000"/>
              <a:buChar char="•"/>
            </a:pPr>
            <a:r>
              <a:rPr lang="en-US" sz="1700" dirty="0">
                <a:solidFill>
                  <a:srgbClr val="1F2A30"/>
                </a:solidFill>
                <a:latin typeface="Calibri" pitchFamily="34" charset="0"/>
                <a:ea typeface="Calibri" pitchFamily="34" charset="-122"/>
                <a:cs typeface="Calibri" pitchFamily="34" charset="-120"/>
              </a:rPr>
              <a:t>Real-world accuracy will be lower than on synthetic data.</a:t>
            </a:r>
            <a:endParaRPr lang="en-US" sz="1700" dirty="0"/>
          </a:p>
          <a:p>
            <a:pPr marL="342900" indent="-342900">
              <a:spcAft>
                <a:spcPts val="800"/>
              </a:spcAft>
              <a:buSzPct val="100000"/>
              <a:buChar char="•"/>
            </a:pPr>
            <a:r>
              <a:rPr lang="en-US" sz="1700" dirty="0">
                <a:solidFill>
                  <a:srgbClr val="1F2A30"/>
                </a:solidFill>
                <a:latin typeface="Calibri" pitchFamily="34" charset="0"/>
                <a:ea typeface="Calibri" pitchFamily="34" charset="-122"/>
                <a:cs typeface="Calibri" pitchFamily="34" charset="-120"/>
              </a:rPr>
              <a:t>What-if forecasts are decision aids, not treatment instructions.</a:t>
            </a:r>
            <a:endParaRPr lang="en-US" sz="1700" dirty="0"/>
          </a:p>
        </p:txBody>
      </p:sp>
      <p:sp>
        <p:nvSpPr>
          <p:cNvPr id="6" name="Shape 4"/>
          <p:cNvSpPr/>
          <p:nvPr/>
        </p:nvSpPr>
        <p:spPr>
          <a:xfrm>
            <a:off x="6172200" y="1508760"/>
            <a:ext cx="5440680" cy="3840480"/>
          </a:xfrm>
          <a:prstGeom prst="roundRect">
            <a:avLst>
              <a:gd name="adj" fmla="val 2857"/>
            </a:avLst>
          </a:prstGeom>
          <a:solidFill>
            <a:srgbClr val="0E6E6B"/>
          </a:solidFill>
          <a:ln w="12700">
            <a:solidFill>
              <a:srgbClr val="0E6E6B"/>
            </a:solidFill>
            <a:prstDash val="solid"/>
          </a:ln>
        </p:spPr>
      </p:sp>
      <p:sp>
        <p:nvSpPr>
          <p:cNvPr id="7" name="Text 5"/>
          <p:cNvSpPr txBox="1"/>
          <p:nvPr/>
        </p:nvSpPr>
        <p:spPr>
          <a:xfrm>
            <a:off x="6492240" y="1737360"/>
            <a:ext cx="48463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8" name="Text 6"/>
          <p:cNvSpPr txBox="1"/>
          <p:nvPr/>
        </p:nvSpPr>
        <p:spPr>
          <a:xfrm>
            <a:off x="6492240" y="233172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Validate on public CGM datasets (OhioT1DM, Shanghai T2DM).</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Stress-test with irregular routines and unlogged meals.</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Pilot with a diabetes clinic, doctor in the loop.</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Connect to affordable CGMs and ABDM health records.</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Patient app with nudges in Indian languages.</a:t>
            </a:r>
            <a:endParaRPr lang="en-US" sz="1700" dirty="0"/>
          </a:p>
        </p:txBody>
      </p:sp>
      <p:sp>
        <p:nvSpPr>
          <p:cNvPr id="9" name="Text 7"/>
          <p:cNvSpPr txBox="1"/>
          <p:nvPr/>
        </p:nvSpPr>
        <p:spPr>
          <a:xfrm>
            <a:off x="548640" y="6446520"/>
            <a:ext cx="7315200" cy="274320"/>
          </a:xfrm>
          <a:prstGeom prst="rect">
            <a:avLst/>
          </a:prstGeom>
          <a:noFill/>
          <a:ln/>
        </p:spPr>
        <p:txBody>
          <a:bodyPr wrap="square" lIns="0" tIns="0" rIns="0" bIns="0" rtlCol="0" anchor="t"/>
          <a:lstStyle/>
          <a:p>
            <a:pPr indent="0" marL="0">
              <a:buNone/>
            </a:pPr>
            <a:r>
              <a:rPr lang="en-US" sz="1000" dirty="0">
                <a:solidFill>
                  <a:srgbClr val="5F6E74"/>
                </a:solidFill>
                <a:latin typeface="Calibri" pitchFamily="34" charset="0"/>
                <a:ea typeface="Calibri" pitchFamily="34" charset="-122"/>
                <a:cs typeface="Calibri" pitchFamily="34" charset="-120"/>
              </a:rPr>
              <a:t>GlucoTwin  |  I Dont Think We Can Code, XLRI</a:t>
            </a:r>
            <a:endParaRPr lang="en-US" sz="1000" dirty="0"/>
          </a:p>
        </p:txBody>
      </p:sp>
      <p:sp>
        <p:nvSpPr>
          <p:cNvPr id="10" name="Text 8"/>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1000" dirty="0">
                <a:solidFill>
                  <a:srgbClr val="5F6E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4644"/>
        </a:solidFill>
      </p:bgPr>
    </p:bg>
    <p:spTree>
      <p:nvGrpSpPr>
        <p:cNvPr id="1" name=""/>
        <p:cNvGrpSpPr/>
        <p:nvPr/>
      </p:nvGrpSpPr>
      <p:grpSpPr>
        <a:xfrm>
          <a:off x="0" y="0"/>
          <a:ext cx="0" cy="0"/>
          <a:chOff x="0" y="0"/>
          <a:chExt cx="0" cy="0"/>
        </a:xfrm>
      </p:grpSpPr>
      <p:sp>
        <p:nvSpPr>
          <p:cNvPr id="2" name="Text 0"/>
          <p:cNvSpPr txBox="1"/>
          <p:nvPr/>
        </p:nvSpPr>
        <p:spPr>
          <a:xfrm>
            <a:off x="731520" y="1188720"/>
            <a:ext cx="6400800" cy="100584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2377440"/>
            <a:ext cx="6583680" cy="822960"/>
          </a:xfrm>
          <a:prstGeom prst="rect">
            <a:avLst/>
          </a:prstGeom>
          <a:noFill/>
          <a:ln/>
        </p:spPr>
        <p:txBody>
          <a:bodyPr wrap="square" lIns="0" tIns="0" rIns="0" bIns="0" rtlCol="0" anchor="t"/>
          <a:lstStyle/>
          <a:p>
            <a:pPr indent="0" marL="0">
              <a:buNone/>
            </a:pPr>
            <a:r>
              <a:rPr lang="en-US" sz="1800" dirty="0">
                <a:solidFill>
                  <a:srgbClr val="D7EBE8"/>
                </a:solidFill>
                <a:latin typeface="Calibri" pitchFamily="34" charset="0"/>
                <a:ea typeface="Calibri" pitchFamily="34" charset="-122"/>
                <a:cs typeface="Calibri" pitchFamily="34" charset="-120"/>
              </a:rPr>
              <a:t>Sarah Dhamija  |  Yashas Tarakaram</a:t>
            </a:r>
            <a:endParaRPr lang="en-US" sz="1800" dirty="0"/>
          </a:p>
          <a:p>
            <a:pPr indent="0" marL="0">
              <a:buNone/>
            </a:pPr>
            <a:r>
              <a:rPr lang="en-US" sz="1800" dirty="0">
                <a:solidFill>
                  <a:srgbClr val="D7EBE8"/>
                </a:solidFill>
                <a:latin typeface="Calibri" pitchFamily="34" charset="0"/>
                <a:ea typeface="Calibri" pitchFamily="34" charset="-122"/>
                <a:cs typeface="Calibri" pitchFamily="34" charset="-120"/>
              </a:rPr>
              <a:t>Team I Dont Think We Can Code, XLRI</a:t>
            </a:r>
            <a:endParaRPr lang="en-US" sz="1800" dirty="0"/>
          </a:p>
        </p:txBody>
      </p:sp>
      <p:sp>
        <p:nvSpPr>
          <p:cNvPr id="4" name="Text 2"/>
          <p:cNvSpPr txBox="1"/>
          <p:nvPr/>
        </p:nvSpPr>
        <p:spPr>
          <a:xfrm>
            <a:off x="731520" y="3840480"/>
            <a:ext cx="685800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Live dashboard: idontthinkwecancodexlri.streamlit.app</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Code: github.com/b25474-sudo/IDontThinkWeCanCode_XLRI</a:t>
            </a:r>
            <a:endParaRPr lang="en-US" sz="1400" dirty="0"/>
          </a:p>
        </p:txBody>
      </p:sp>
      <p:sp>
        <p:nvSpPr>
          <p:cNvPr id="5" name="Shape 3"/>
          <p:cNvSpPr/>
          <p:nvPr/>
        </p:nvSpPr>
        <p:spPr>
          <a:xfrm>
            <a:off x="7863840" y="2011680"/>
            <a:ext cx="1828800" cy="2286000"/>
          </a:xfrm>
          <a:prstGeom prst="roundRect">
            <a:avLst>
              <a:gd name="adj" fmla="val 5000"/>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0" y="2148840"/>
            <a:ext cx="1463040" cy="1463040"/>
          </a:xfrm>
          <a:prstGeom prst="rect">
            <a:avLst/>
          </a:prstGeom>
        </p:spPr>
      </p:pic>
      <p:sp>
        <p:nvSpPr>
          <p:cNvPr id="7" name="Text 4"/>
          <p:cNvSpPr txBox="1"/>
          <p:nvPr/>
        </p:nvSpPr>
        <p:spPr>
          <a:xfrm>
            <a:off x="7863840" y="3703320"/>
            <a:ext cx="1828800" cy="411480"/>
          </a:xfrm>
          <a:prstGeom prst="rect">
            <a:avLst/>
          </a:prstGeom>
          <a:noFill/>
          <a:ln/>
        </p:spPr>
        <p:txBody>
          <a:bodyPr wrap="square" lIns="0" tIns="0" rIns="0" bIns="0" rtlCol="0" anchor="ctr"/>
          <a:lstStyle/>
          <a:p>
            <a:pPr algn="ctr" indent="0" marL="0">
              <a:buNone/>
            </a:pPr>
            <a:r>
              <a:rPr lang="en-US" sz="1400" b="1" dirty="0">
                <a:solidFill>
                  <a:srgbClr val="1F2A30"/>
                </a:solidFill>
                <a:latin typeface="Calibri" pitchFamily="34" charset="0"/>
                <a:ea typeface="Calibri" pitchFamily="34" charset="-122"/>
                <a:cs typeface="Calibri" pitchFamily="34" charset="-120"/>
              </a:rPr>
              <a:t>Dashboard</a:t>
            </a:r>
            <a:endParaRPr lang="en-US" sz="1400" dirty="0"/>
          </a:p>
        </p:txBody>
      </p:sp>
      <p:sp>
        <p:nvSpPr>
          <p:cNvPr id="8" name="Shape 5"/>
          <p:cNvSpPr/>
          <p:nvPr/>
        </p:nvSpPr>
        <p:spPr>
          <a:xfrm>
            <a:off x="9966960" y="2011680"/>
            <a:ext cx="1828800" cy="2286000"/>
          </a:xfrm>
          <a:prstGeom prst="roundRect">
            <a:avLst>
              <a:gd name="adj" fmla="val 5000"/>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10149840" y="2148840"/>
            <a:ext cx="1463040" cy="1463040"/>
          </a:xfrm>
          <a:prstGeom prst="rect">
            <a:avLst/>
          </a:prstGeom>
        </p:spPr>
      </p:pic>
      <p:sp>
        <p:nvSpPr>
          <p:cNvPr id="10" name="Text 6"/>
          <p:cNvSpPr txBox="1"/>
          <p:nvPr/>
        </p:nvSpPr>
        <p:spPr>
          <a:xfrm>
            <a:off x="9966960" y="3703320"/>
            <a:ext cx="1828800" cy="411480"/>
          </a:xfrm>
          <a:prstGeom prst="rect">
            <a:avLst/>
          </a:prstGeom>
          <a:noFill/>
          <a:ln/>
        </p:spPr>
        <p:txBody>
          <a:bodyPr wrap="square" lIns="0" tIns="0" rIns="0" bIns="0" rtlCol="0" anchor="ctr"/>
          <a:lstStyle/>
          <a:p>
            <a:pPr algn="ctr" indent="0" marL="0">
              <a:buNone/>
            </a:pPr>
            <a:r>
              <a:rPr lang="en-US" sz="1400" b="1" dirty="0">
                <a:solidFill>
                  <a:srgbClr val="1F2A30"/>
                </a:solidFill>
                <a:latin typeface="Calibri" pitchFamily="34" charset="0"/>
                <a:ea typeface="Calibri" pitchFamily="34" charset="-122"/>
                <a:cs typeface="Calibri" pitchFamily="34" charset="-120"/>
              </a:rPr>
              <a:t>GitHub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Happiest Health Digital Twin Challenge</dc:title>
  <dc:subject>PptxGenJS Presentation</dc:subject>
  <dc:creator>PptxGenJS</dc:creator>
  <cp:lastModifiedBy>PptxGenJS</cp:lastModifiedBy>
  <cp:revision>1</cp:revision>
  <dcterms:created xsi:type="dcterms:W3CDTF">2026-09-24T21:16:07Z</dcterms:created>
  <dcterms:modified xsi:type="dcterms:W3CDTF">2026-09-24T21:16:07Z</dcterms:modified>
</cp:coreProperties>
</file>